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c46d50c2994405" /><Relationship Type="http://schemas.openxmlformats.org/officeDocument/2006/relationships/extended-properties" Target="/docProps/app.xml" Id="R8ce86625bc71401f" /><Relationship Type="http://schemas.openxmlformats.org/officeDocument/2006/relationships/officeDocument" Target="/ppt/presentation.xml" Id="R7fe5aec2224045d8" /></Relationships>
</file>

<file path=ppt/presentation.xml><?xml version="1.0" encoding="utf-8"?>
<p:presentation xmlns:p="http://schemas.openxmlformats.org/presentationml/2006/main">
  <p:sldMasterIdLst>
    <p:sldMasterId xmlns:r="http://schemas.openxmlformats.org/officeDocument/2006/relationships" id="2147483648" r:id="R8e4d8abd6289423f"/>
  </p:sldMasterIdLst>
  <p:notesMasterIdLst>
    <p:notesMasterId xmlns:r="http://schemas.openxmlformats.org/officeDocument/2006/relationships" r:id="Rd3a630b7de764ebb"/>
  </p:notesMasterIdLst>
  <p:sldIdLst>
    <p:sldId xmlns:r="http://schemas.openxmlformats.org/officeDocument/2006/relationships" id="256" r:id="Re45f4c91c3144489"/>
    <p:sldId xmlns:r="http://schemas.openxmlformats.org/officeDocument/2006/relationships" id="257" r:id="Rad00bced3a4340fc"/>
    <p:sldId xmlns:r="http://schemas.openxmlformats.org/officeDocument/2006/relationships" id="258" r:id="R70031c878b124b11"/>
    <p:sldId xmlns:r="http://schemas.openxmlformats.org/officeDocument/2006/relationships" id="259" r:id="Ra4d18e350e914185"/>
    <p:sldId xmlns:r="http://schemas.openxmlformats.org/officeDocument/2006/relationships" id="260" r:id="R3bafae656a114af9"/>
    <p:sldId xmlns:r="http://schemas.openxmlformats.org/officeDocument/2006/relationships" id="261" r:id="R74d11b3db5be4738"/>
    <p:sldId xmlns:r="http://schemas.openxmlformats.org/officeDocument/2006/relationships" id="262" r:id="R3f2fa12df0a3486e"/>
    <p:sldId xmlns:r="http://schemas.openxmlformats.org/officeDocument/2006/relationships" id="263" r:id="R0294c31b0fe34b14"/>
    <p:sldId xmlns:r="http://schemas.openxmlformats.org/officeDocument/2006/relationships" id="264" r:id="R9e98883b97e8422f"/>
    <p:sldId xmlns:r="http://schemas.openxmlformats.org/officeDocument/2006/relationships" id="265" r:id="R9b9ad907f5ef48be"/>
    <p:sldId xmlns:r="http://schemas.openxmlformats.org/officeDocument/2006/relationships" id="266" r:id="Rbca529a86b7c4025"/>
    <p:sldId xmlns:r="http://schemas.openxmlformats.org/officeDocument/2006/relationships" id="267" r:id="R59b58746e85b4d7b"/>
    <p:sldId xmlns:r="http://schemas.openxmlformats.org/officeDocument/2006/relationships" id="268" r:id="R31e19173c42640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cef0c7b2a64758" /><Relationship Type="http://schemas.openxmlformats.org/officeDocument/2006/relationships/slideMaster" Target="/ppt/slideMasters/slideMaster1.xml" Id="R8e4d8abd6289423f" /><Relationship Type="http://schemas.openxmlformats.org/officeDocument/2006/relationships/notesMaster" Target="/ppt/notesMasters/notesMaster1.xml" Id="Rd3a630b7de764ebb" /><Relationship Type="http://schemas.openxmlformats.org/officeDocument/2006/relationships/presProps" Target="/ppt/presProps.xml" Id="Rfdd72fc9fd9e45fe" /><Relationship Type="http://schemas.openxmlformats.org/officeDocument/2006/relationships/tableStyles" Target="/ppt/tableStyles.xml" Id="R53ffb4c127914076" /><Relationship Type="http://schemas.openxmlformats.org/officeDocument/2006/relationships/slide" Target="/ppt/slides/slide1.xml" Id="Re45f4c91c3144489" /><Relationship Type="http://schemas.openxmlformats.org/officeDocument/2006/relationships/slide" Target="/ppt/slides/slide2.xml" Id="Rad00bced3a4340fc" /><Relationship Type="http://schemas.openxmlformats.org/officeDocument/2006/relationships/slide" Target="/ppt/slides/slide3.xml" Id="R70031c878b124b11" /><Relationship Type="http://schemas.openxmlformats.org/officeDocument/2006/relationships/slide" Target="/ppt/slides/slide4.xml" Id="Ra4d18e350e914185" /><Relationship Type="http://schemas.openxmlformats.org/officeDocument/2006/relationships/slide" Target="/ppt/slides/slide5.xml" Id="R3bafae656a114af9" /><Relationship Type="http://schemas.openxmlformats.org/officeDocument/2006/relationships/slide" Target="/ppt/slides/slide6.xml" Id="R74d11b3db5be4738" /><Relationship Type="http://schemas.openxmlformats.org/officeDocument/2006/relationships/slide" Target="/ppt/slides/slide7.xml" Id="R3f2fa12df0a3486e" /><Relationship Type="http://schemas.openxmlformats.org/officeDocument/2006/relationships/slide" Target="/ppt/slides/slide8.xml" Id="R0294c31b0fe34b14" /><Relationship Type="http://schemas.openxmlformats.org/officeDocument/2006/relationships/slide" Target="/ppt/slides/slide9.xml" Id="R9e98883b97e8422f" /><Relationship Type="http://schemas.openxmlformats.org/officeDocument/2006/relationships/slide" Target="/ppt/slides/slide10.xml" Id="R9b9ad907f5ef48be" /><Relationship Type="http://schemas.openxmlformats.org/officeDocument/2006/relationships/slide" Target="/ppt/slides/slide11.xml" Id="Rbca529a86b7c4025" /><Relationship Type="http://schemas.openxmlformats.org/officeDocument/2006/relationships/slide" Target="/ppt/slides/slide12.xml" Id="R59b58746e85b4d7b" /><Relationship Type="http://schemas.openxmlformats.org/officeDocument/2006/relationships/slide" Target="/ppt/slides/slide13.xml" Id="R31e19173c42640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4462b1014141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c15ba5ae1f47a4" /><Relationship Type="http://schemas.openxmlformats.org/officeDocument/2006/relationships/notesMaster" Target="/ppt/notesMasters/notesMaster1.xml" Id="Rbaaa13df2d2446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d02171d9de4a7f" /><Relationship Type="http://schemas.openxmlformats.org/officeDocument/2006/relationships/notesMaster" Target="/ppt/notesMasters/notesMaster1.xml" Id="Rcd99aad9dc3140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26a6c6bec9498e" /><Relationship Type="http://schemas.openxmlformats.org/officeDocument/2006/relationships/notesMaster" Target="/ppt/notesMasters/notesMaster1.xml" Id="Rb77e1cadf8144d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b817c870454ca0" /><Relationship Type="http://schemas.openxmlformats.org/officeDocument/2006/relationships/notesMaster" Target="/ppt/notesMasters/notesMaster1.xml" Id="R87a4c6b2e60149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4f11445d884676" /><Relationship Type="http://schemas.openxmlformats.org/officeDocument/2006/relationships/notesMaster" Target="/ppt/notesMasters/notesMaster1.xml" Id="Raf449191f5e343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6ab2d929cf4ac5" /><Relationship Type="http://schemas.openxmlformats.org/officeDocument/2006/relationships/notesMaster" Target="/ppt/notesMasters/notesMaster1.xml" Id="R677887d0ba0548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f8942a8aa4425e" /><Relationship Type="http://schemas.openxmlformats.org/officeDocument/2006/relationships/notesMaster" Target="/ppt/notesMasters/notesMaster1.xml" Id="Rc675bb57e27c44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dbe15db5514dfa" /><Relationship Type="http://schemas.openxmlformats.org/officeDocument/2006/relationships/notesMaster" Target="/ppt/notesMasters/notesMaster1.xml" Id="R84b48fff2c0248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14026a1b994841" /><Relationship Type="http://schemas.openxmlformats.org/officeDocument/2006/relationships/notesMaster" Target="/ppt/notesMasters/notesMaster1.xml" Id="Rfdeb554714304c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f5e5d0c57b4e63" /><Relationship Type="http://schemas.openxmlformats.org/officeDocument/2006/relationships/notesMaster" Target="/ppt/notesMasters/notesMaster1.xml" Id="R0a83d670d08142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f606fe5f444f83" /><Relationship Type="http://schemas.openxmlformats.org/officeDocument/2006/relationships/notesMaster" Target="/ppt/notesMasters/notesMaster1.xml" Id="Rf1b394dc90554c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9cf0b5081f4f0f" /><Relationship Type="http://schemas.openxmlformats.org/officeDocument/2006/relationships/notesMaster" Target="/ppt/notesMasters/notesMaster1.xml" Id="Rb0e0bad08e7f47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46fc936da340da" /><Relationship Type="http://schemas.openxmlformats.org/officeDocument/2006/relationships/notesMaster" Target="/ppt/notesMasters/notesMaster1.xml" Id="R55351fb83d814f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30 secondes — créneau 00:00 à 00:30.</a:t>
            </a:r>
          </a:p>
          <a:p xmlns:a="http://schemas.openxmlformats.org/drawingml/2006/main">
            <a:r>
              <a:t/>
            </a:r>
          </a:p>
          <a:p xmlns:a="http://schemas.openxmlformats.org/drawingml/2006/main">
            <a:r>
              <a:t>Bonjour. Cette présentation porte sur la qualité des données d’accidents routiers présentes dans les fichiers BAAC de 2023 et 2024. La question est simple : peut-on construire un indicateur mensuel fiable et autoriser sa publication ? Nous allons suivre le chemin du notebook : comprendre les données, diagnostiquer les anomalies, appliquer des règles explicites, contrôler les résultats, puis justifier la décision finale.</a:t>
            </a:r>
          </a:p>
          <a:p xmlns:a="http://schemas.openxmlformats.org/drawingml/2006/main">
            <a:r>
              <a:t/>
            </a:r>
          </a:p>
          <a:p xmlns:a="http://schemas.openxmlformats.org/drawingml/2006/main">
            <a:r>
              <a:t>Source : accident.ipynb, archive accident_routier-main (2).zip. Source : accident.ipynb, données BAAC 2023 et 2024</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30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 créneau 00:30 à 01:30.</a:t>
            </a:r>
          </a:p>
          <a:p xmlns:a="http://schemas.openxmlformats.org/drawingml/2006/main">
            <a:r>
              <a:t/>
            </a:r>
          </a:p>
          <a:p xmlns:a="http://schemas.openxmlformats.org/drawingml/2006/main">
            <a:r>
              <a:t>L’objectif principal est de compter, chaque mois, les accidents corporels qui respectent les règles d’éligibilité. Un second indicateur compte les accidents dans lesquels au moins un usager est enregistré comme tué. Avant de calculer, il faut donc distinguer deux unités : l’accident et la personne. Un accident peut concerner plusieurs véhicules et plusieurs usagers ; compter les lignes du fichier des usagers reviendrait à compter des personnes, avec un résultat différent.</a:t>
            </a:r>
          </a:p>
          <a:p xmlns:a="http://schemas.openxmlformats.org/drawingml/2006/main">
            <a:r>
              <a:t/>
            </a:r>
          </a:p>
          <a:p xmlns:a="http://schemas.openxmlformats.org/drawingml/2006/main">
            <a:r>
              <a:t>La démarche ne consiste pas seulement à produire un total. Elle doit aussi permettre d’expliquer les choix et de retrouver les anomalies. Enfin, un résultat cohérent dans les fichiers n’est pas automatiquement un chiffre publiable : il reste à confirmer la complétude des extractions et leur concordance avec une référence mensuelle officielle.</a:t>
            </a:r>
          </a:p>
          <a:p xmlns:a="http://schemas.openxmlformats.org/drawingml/2006/main">
            <a:r>
              <a:t/>
            </a:r>
          </a:p>
          <a:p xmlns:a="http://schemas.openxmlformats.org/drawingml/2006/main">
            <a:r>
              <a:t>Source : accident.ipynb, archive accident_routier-main (2).zip. Source : accident.ipynb, sections Diagnostic, Indicateur et décision</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60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15 — créneau 01:30 à 02:45.</a:t>
            </a:r>
          </a:p>
          <a:p xmlns:a="http://schemas.openxmlformats.org/drawingml/2006/main">
            <a:r>
              <a:t/>
            </a:r>
          </a:p>
          <a:p xmlns:a="http://schemas.openxmlformats.org/drawingml/2006/main">
            <a:r>
              <a:t>Le projet contient huit fichiers : quatre tables pour 2023 et les quatre mêmes pour 2024. La table des caractéristiques porte une ligne par accident, avec notamment son identifiant et sa date. Les lieux décrivent le contexte routier, les véhicules décrivent les véhicules impliqués et les usagers décrivent les personnes, avec leur gravité. La clé commune, appelée Num_Acc, relie ces informations.</a:t>
            </a:r>
          </a:p>
          <a:p xmlns:a="http://schemas.openxmlformats.org/drawingml/2006/main">
            <a:r>
              <a:t/>
            </a:r>
          </a:p>
          <a:p xmlns:a="http://schemas.openxmlformats.org/drawingml/2006/main">
            <a:r>
              <a:t>Les volumes illustrent cette différence de niveau. En 2023, nous avons 54 822 accidents dans les caractéristiques, mais 125 789 lignes dans les usagers. En 2024, ces volumes sont respectivement de 54 402 et 125 187. Pour calculer le nombre d’accidents, on part donc des caractéristiques, puis on rattache la gravité issue des usagers.</a:t>
            </a:r>
          </a:p>
          <a:p xmlns:a="http://schemas.openxmlformats.org/drawingml/2006/main">
            <a:r>
              <a:t/>
            </a:r>
          </a:p>
          <a:p xmlns:a="http://schemas.openxmlformats.org/drawingml/2006/main">
            <a:r>
              <a:t>Les contrôles de liaison ne trouvent ni clé de détail sans accident correspondant, ni accident privé de détail dans les trois autres tables. Cela établit une cohérence entre les fichiers fournis, sur ce périmètre.</a:t>
            </a:r>
          </a:p>
          <a:p xmlns:a="http://schemas.openxmlformats.org/drawingml/2006/main">
            <a:r>
              <a:t/>
            </a:r>
          </a:p>
          <a:p xmlns:a="http://schemas.openxmlformats.org/drawingml/2006/main">
            <a:r>
              <a:t>Source : accident.ipynb, archive accident_routier-main (2).zip. Source : accident.ipynb, chargement et diagnostic des tables</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75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30 — créneau 02:45 à 04:15.</a:t>
            </a:r>
          </a:p>
          <a:p xmlns:a="http://schemas.openxmlformats.org/drawingml/2006/main">
            <a:r>
              <a:t/>
            </a:r>
          </a:p>
          <a:p xmlns:a="http://schemas.openxmlformats.org/drawingml/2006/main">
            <a:r>
              <a:t>Le diagnostic met en évidence une anomalie sur un champ critique : en 2023, 118 lignes d’usagers n’ont pas de gravité renseignée ou exploitable. Sur 125 789 lignes, cela représente environ 0,09 %. Ces lignes concernent 116 accidents distincts. En 2024, aucune anomalie de gravité n’est détectée par les mêmes règles.</a:t>
            </a:r>
          </a:p>
          <a:p xmlns:a="http://schemas.openxmlformats.org/drawingml/2006/main">
            <a:r>
              <a:t/>
            </a:r>
          </a:p>
          <a:p xmlns:a="http://schemas.openxmlformats.org/drawingml/2006/main">
            <a:r>
              <a:t>Le pourcentage est faible, mais la gravité intervient directement dans le calcul complémentaire des accidents avec au moins un tué. Il faut donc conserver la trace de ces cas. Une valeur inconnue ne doit pas être remplacée par une gravité supposée. Les clés d’accident et les composantes de date, elles, sont renseignées dans les deux années.</a:t>
            </a:r>
          </a:p>
          <a:p xmlns:a="http://schemas.openxmlformats.org/drawingml/2006/main">
            <a:r>
              <a:t/>
            </a:r>
          </a:p>
          <a:p xmlns:a="http://schemas.openxmlformats.org/drawingml/2006/main">
            <a:r>
              <a:t>Le notebook observe aussi de nombreuses valeurs non renseignées dans certains champs de contexte. Leur interprétation demande de connaître le sens du champ et son applicabilité. Une rubrique qui ne concerne qu’une partie des situations peut être souvent vide sans rendre tout le fichier inutilisable. Il faut distinguer ce profil descriptif d’une anomalie qui empêche réellement le calcul de l’indicateur.</a:t>
            </a:r>
          </a:p>
          <a:p xmlns:a="http://schemas.openxmlformats.org/drawingml/2006/main">
            <a:r>
              <a:t/>
            </a:r>
          </a:p>
          <a:p xmlns:a="http://schemas.openxmlformats.org/drawingml/2006/main">
            <a:r>
              <a:t>Source : accident.ipynb, archive accident_routier-main (2).zip. Source : accident.ipynb, profil des champs critiques et journal des anomalies</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90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30 — créneau 04:15 à 05:45.</a:t>
            </a:r>
          </a:p>
          <a:p xmlns:a="http://schemas.openxmlformats.org/drawingml/2006/main">
            <a:r>
              <a:t/>
            </a:r>
          </a:p>
          <a:p xmlns:a="http://schemas.openxmlformats.org/drawingml/2006/main">
            <a:r>
              <a:t>Les règles de préparation sont définies avant l’agrégation. Les espaces autour des clés sont d’abord retirés dans les copies de travail. Si une clé d’accident est absente ou dupliquée, l’accident est exclu de l’indicateur. La date doit aussi être valide et correspondre à l’année du fichier. Ces exclusions sont prévues par le traitement, même si elles ne se produisent pas dans les résultats observés.</a:t>
            </a:r>
          </a:p>
          <a:p xmlns:a="http://schemas.openxmlformats.org/drawingml/2006/main">
            <a:r>
              <a:t/>
            </a:r>
          </a:p>
          <a:p xmlns:a="http://schemas.openxmlformats.org/drawingml/2006/main">
            <a:r>
              <a:t>Pour la gravité, seuls les codes 1, 2, 3 et 4 sont retenus. Un accident reste éligible dès qu’au moins un de ses usagers possède une gravité valide. Cela explique pourquoi une anomalie sur un usager ne supprime pas automatiquement tout l’accident.</a:t>
            </a:r>
          </a:p>
          <a:p xmlns:a="http://schemas.openxmlformats.org/drawingml/2006/main">
            <a:r>
              <a:t/>
            </a:r>
          </a:p>
          <a:p xmlns:a="http://schemas.openxmlformats.org/drawingml/2006/main">
            <a:r>
              <a:t>Un point technique a une conséquence importante : les codes de gravité ne forment pas une échelle numérique croissante. Le code 2 correspond à un tué. Pour identifier un accident avec au moins un tué, le notebook recherche directement la présence de ce code parmi les usagers. Il ne prend donc pas simplement le plus grand nombre de la colonne.</a:t>
            </a:r>
          </a:p>
          <a:p xmlns:a="http://schemas.openxmlformats.org/drawingml/2006/main">
            <a:r>
              <a:t/>
            </a:r>
          </a:p>
          <a:p xmlns:a="http://schemas.openxmlformats.org/drawingml/2006/main">
            <a:r>
              <a:t>Source : accident.ipynb, archive accident_routier-main (2).zip. Source : accident.ipynb, préparation des données et définition de l’éligibilité</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90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15 — créneau 05:45 à 07:00.</a:t>
            </a:r>
          </a:p>
          <a:p xmlns:a="http://schemas.openxmlformats.org/drawingml/2006/main">
            <a:r>
              <a:t/>
            </a:r>
          </a:p>
          <a:p xmlns:a="http://schemas.openxmlformats.org/drawingml/2006/main">
            <a:r>
              <a:t>Le traitement produit un journal qui rend les anomalies retrouvables. Chaque entrée conserve l’année, la règle concernée, l’identifiant de l’accident, le numéro de ligne dans le fichier source, l’action appliquée et un statut de traitement. Ce journal contient 118 lignes pour 2023, correspondant aux gravités non exploitables, et aucune pour 2024.</a:t>
            </a:r>
          </a:p>
          <a:p xmlns:a="http://schemas.openxmlformats.org/drawingml/2006/main">
            <a:r>
              <a:t/>
            </a:r>
          </a:p>
          <a:p xmlns:a="http://schemas.openxmlformats.org/drawingml/2006/main">
            <a:r>
              <a:t>Les 116 accidents concernés restent tous éligibles, car ils disposent chacun d’au moins une autre gravité valide. L’impact sur le nombre d’accidents retenus est donc nul : aucune exclusion. Mais il faut bien séparer absence d’exclusion et résolution du problème. Les 118 valeurs restent à vérifier ; leur gravité réelle n’est pas établie.</a:t>
            </a:r>
          </a:p>
          <a:p xmlns:a="http://schemas.openxmlformats.org/drawingml/2006/main">
            <a:r>
              <a:t/>
            </a:r>
          </a:p>
          <a:p xmlns:a="http://schemas.openxmlformats.org/drawingml/2006/main">
            <a:r>
              <a:t>Enfin, malgré son nom de fichier, ce journal ne prouve aucune correction dans les données sources. Il enregistre un diagnostic et son traitement dans le calcul. Une correction effective demanderait une information confirmée, une modification documentée et un nouveau passage des contrôles.</a:t>
            </a:r>
          </a:p>
          <a:p xmlns:a="http://schemas.openxmlformats.org/drawingml/2006/main">
            <a:r>
              <a:t/>
            </a:r>
          </a:p>
          <a:p xmlns:a="http://schemas.openxmlformats.org/drawingml/2006/main">
            <a:r>
              <a:t>Source : accident.ipynb, archive accident_routier-main (2).zip. Source : accident.ipynb, journal_corrections et impact_anomalies</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75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15 — créneau 07:00 à 08:15.</a:t>
            </a:r>
          </a:p>
          <a:p xmlns:a="http://schemas.openxmlformats.org/drawingml/2006/main">
            <a:r>
              <a:t/>
            </a:r>
          </a:p>
          <a:p xmlns:a="http://schemas.openxmlformats.org/drawingml/2006/main">
            <a:r>
              <a:t>Après préparation, les contrôles automatiques passent pour les deux années. Chaque accident éligible possède une clé unique, une date valide dans la bonne année et une gravité exploitable. Le notebook vérifie également que l’indicateur signalant au moins un tué correspond bien à la présence du code 2 dans les lignes d’usagers. Le taux d’exclusion est de zéro pour cent.</a:t>
            </a:r>
          </a:p>
          <a:p xmlns:a="http://schemas.openxmlformats.org/drawingml/2006/main">
            <a:r>
              <a:t/>
            </a:r>
          </a:p>
          <a:p xmlns:a="http://schemas.openxmlformats.org/drawingml/2006/main">
            <a:r>
              <a:t>Ces résultats soutiennent la cohérence interne du calcul. Ils montrent que les règles annoncées sont respectées sur les données transformées. Ils ne démontrent cependant pas que l’extraction contient tous les accidents attendus.</a:t>
            </a:r>
          </a:p>
          <a:p xmlns:a="http://schemas.openxmlformats.org/drawingml/2006/main">
            <a:r>
              <a:t/>
            </a:r>
          </a:p>
          <a:p xmlns:a="http://schemas.openxmlformats.org/drawingml/2006/main">
            <a:r>
              <a:t>Par exemple, observer des dates de janvier à décembre indique que les douze mois sont représentés, mais ne garantit pas qu’aucun lot de données ne manque entre les deux. Pour conclure sur cette complétude, il faut une preuve venant du manifeste d’extraction ou du producteur. C’est la limite essentielle à garder à l’esprit avant de commenter les volumes.</a:t>
            </a:r>
          </a:p>
          <a:p xmlns:a="http://schemas.openxmlformats.org/drawingml/2006/main">
            <a:r>
              <a:t/>
            </a:r>
          </a:p>
          <a:p xmlns:a="http://schemas.openxmlformats.org/drawingml/2006/main">
            <a:r>
              <a:t>Source : accident.ipynb, archive accident_routier-main (2).zip. Source : accident.ipynb, synthèse des contrôles et assertions automatiques</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75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15 — créneau 08:15 à 09:30.</a:t>
            </a:r>
          </a:p>
          <a:p xmlns:a="http://schemas.openxmlformats.org/drawingml/2006/main">
            <a:r>
              <a:t/>
            </a:r>
          </a:p>
          <a:p xmlns:a="http://schemas.openxmlformats.org/drawingml/2006/main">
            <a:r>
              <a:t>Sur le périmètre fourni, le calcul retient 54 822 accidents en 2023 et 54 402 en 2024. L’écart est de 420 accidents en moins, soit environ 0,8 %. Comme aucun accident n’a été exclu, ces totaux correspondent aux volumes présents dans les fichiers des caractéristiques.</a:t>
            </a:r>
          </a:p>
          <a:p xmlns:a="http://schemas.openxmlformats.org/drawingml/2006/main">
            <a:r>
              <a:t/>
            </a:r>
          </a:p>
          <a:p xmlns:a="http://schemas.openxmlformats.org/drawingml/2006/main">
            <a:r>
              <a:t>La baisse annuelle est donc légère. Elle résume toutefois douze comparaisons mensuelles dont les directions ne sont pas toutes identiques. Un total annuel peut masquer des hausses à certaines périodes et des baisses à d’autres. C’est pour cela que l’étape suivante compare les mêmes mois calendaires entre les deux années.</a:t>
            </a:r>
          </a:p>
          <a:p xmlns:a="http://schemas.openxmlformats.org/drawingml/2006/main">
            <a:r>
              <a:t/>
            </a:r>
          </a:p>
          <a:p xmlns:a="http://schemas.openxmlformats.org/drawingml/2006/main">
            <a:r>
              <a:t>À ce stade, nous décrivons les fichiers analysés. Nous ne pouvons pas attribuer la variation à une politique publique, aux comportements ou aux conditions de circulation : le notebook ne réalise pas une analyse causale. Et la comparabilité complète des extractions reste à confirmer avant toute interprétation plus large.</a:t>
            </a:r>
          </a:p>
          <a:p xmlns:a="http://schemas.openxmlformats.org/drawingml/2006/main">
            <a:r>
              <a:t/>
            </a:r>
          </a:p>
          <a:p xmlns:a="http://schemas.openxmlformats.org/drawingml/2006/main">
            <a:r>
              <a:t>Source : accident.ipynb, archive accident_routier-main (2).zip. Source : accident.ipynb, agrégats mensuels et synthèse annuelle</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75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30 — créneau 09:30 à 11:00.</a:t>
            </a:r>
          </a:p>
          <a:p xmlns:a="http://schemas.openxmlformats.org/drawingml/2006/main">
            <a:r>
              <a:t/>
            </a:r>
          </a:p>
          <a:p xmlns:a="http://schemas.openxmlformats.org/drawingml/2006/main">
            <a:r>
              <a:t>La comparaison mensuelle fait apparaître plusieurs contrastes. En avril, les accidents comptés passent de 4 162 à 4 586, soit une hausse de 10,2 %. En juillet, ils passent de 4 754 à 5 209, soit une hausse de 9,6 %. À l’inverse, septembre recule de 10,5 % et octobre de 10,9 %.</a:t>
            </a:r>
          </a:p>
          <a:p xmlns:a="http://schemas.openxmlformats.org/drawingml/2006/main">
            <a:r>
              <a:t/>
            </a:r>
          </a:p>
          <a:p xmlns:a="http://schemas.openxmlformats.org/drawingml/2006/main">
            <a:r>
              <a:t>Ces évolutions montrent pourquoi la baisse annuelle de 0,8 % doit être lue avec prudence : elle résulte de mouvements de sens opposés selon les mois. Les périodes de maximum diffèrent également. Le pic de 2023 se situe en juin, avec 5 452 accidents, alors que celui de 2024 se situe en juillet, avec 5 209 accidents.</a:t>
            </a:r>
          </a:p>
          <a:p xmlns:a="http://schemas.openxmlformats.org/drawingml/2006/main">
            <a:r>
              <a:t/>
            </a:r>
          </a:p>
          <a:p xmlns:a="http://schemas.openxmlformats.org/drawingml/2006/main">
            <a:r>
              <a:t>La bonne lecture consiste ici à comparer avril à avril, juillet à juillet, et ainsi de suite. Comparer uniquement deux mois successifs mélangerait la différence entre les années avec les variations au cours de l’année. Nous pouvons donc repérer des écarts et des mois à approfondir, mais ces écarts descriptifs ne suffisent pas à expliquer les mécanismes qui les produisent.</a:t>
            </a:r>
          </a:p>
          <a:p xmlns:a="http://schemas.openxmlformats.org/drawingml/2006/main">
            <a:r>
              <a:t/>
            </a:r>
          </a:p>
          <a:p xmlns:a="http://schemas.openxmlformats.org/drawingml/2006/main">
            <a:r>
              <a:t>Source : accident.ipynb, archive accident_routier-main (2).zip. Source : accident.ipynb, comparaison par mois calendaire. Écarts 2024 / 2023.</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90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15 — créneau 11:00 à 12:15.</a:t>
            </a:r>
          </a:p>
          <a:p xmlns:a="http://schemas.openxmlformats.org/drawingml/2006/main">
            <a:r>
              <a:t/>
            </a:r>
          </a:p>
          <a:p xmlns:a="http://schemas.openxmlformats.org/drawingml/2006/main">
            <a:r>
              <a:t>Le second indicateur change de question. Il ne compte plus tous les accidents éligibles, mais ceux qui présentent au moins un usager avec le code de gravité 2. En additionnant les résultats mensuels du notebook, on obtient 3 203 accidents en 2023 et 3 226 en 2024. Cela représente 23 accidents supplémentaires, soit environ 0,7 %.</a:t>
            </a:r>
          </a:p>
          <a:p xmlns:a="http://schemas.openxmlformats.org/drawingml/2006/main">
            <a:r>
              <a:t/>
            </a:r>
          </a:p>
          <a:p xmlns:a="http://schemas.openxmlformats.org/drawingml/2006/main">
            <a:r>
              <a:t>Il faut être précis sur l’unité : ce ne sont pas des nombres de personnes tuées. Un accident qui comporte plusieurs usagers tués ne compte qu’une fois dans cet indicateur. Les deux mesures répondraient à des questions différentes.</a:t>
            </a:r>
          </a:p>
          <a:p xmlns:a="http://schemas.openxmlformats.org/drawingml/2006/main">
            <a:r>
              <a:t/>
            </a:r>
          </a:p>
          <a:p xmlns:a="http://schemas.openxmlformats.org/drawingml/2006/main">
            <a:r>
              <a:t>Nous observons donc une légère hausse de cet indicateur alors que le nombre total d’accidents diminue légèrement. Cela ne suffit pas à conclure à une évolution générale de la gravité. Les valeurs de gravité inconnues de 2023 constituent aussi une réserve : elles restent à vérifier pour apprécier pleinement cet indicateur complémentaire.</a:t>
            </a:r>
          </a:p>
          <a:p xmlns:a="http://schemas.openxmlformats.org/drawingml/2006/main">
            <a:r>
              <a:t/>
            </a:r>
          </a:p>
          <a:p xmlns:a="http://schemas.openxmlformats.org/drawingml/2006/main">
            <a:r>
              <a:t>Source : accident.ipynb, archive accident_routier-main (2).zip. Source : accident.ipynb, somme annuelle des accidents_avec_tue calculés par mois</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75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30 — créneau 12:15 à 13:45.</a:t>
            </a:r>
          </a:p>
          <a:p xmlns:a="http://schemas.openxmlformats.org/drawingml/2006/main">
            <a:r>
              <a:t/>
            </a:r>
          </a:p>
          <a:p xmlns:a="http://schemas.openxmlformats.org/drawingml/2006/main">
            <a:r>
              <a:t>Malgré les contrôles internes satisfaisants, la décision du notebook reste un NO-GO pour la publication. Deux éléments décisifs manquent dans le projet. D’abord, la référence officielle par année et par mois n’est pas renseignée. Le rapprochement ne peut donc pas être réalisé. Ensuite, la complétude des extractions n’est pas confirmée par une preuve documentée.</a:t>
            </a:r>
          </a:p>
          <a:p xmlns:a="http://schemas.openxmlformats.org/drawingml/2006/main">
            <a:r>
              <a:t/>
            </a:r>
          </a:p>
          <a:p xmlns:a="http://schemas.openxmlformats.org/drawingml/2006/main">
            <a:r>
              <a:t>Pour passer à une décision favorable, il faudra obtenir la série publiée sur un périmètre comparable, la rapprocher mois par mois des accidents calculés et examiner chaque différence. Le traitement prévu attend une présence des deux séries pour tous les mois et une concordance de leurs valeurs. Il faudra également confirmer que les fichiers fournis couvrent bien le périmètre attendu.</a:t>
            </a:r>
          </a:p>
          <a:p xmlns:a="http://schemas.openxmlformats.org/drawingml/2006/main">
            <a:r>
              <a:t/>
            </a:r>
          </a:p>
          <a:p xmlns:a="http://schemas.openxmlformats.org/drawingml/2006/main">
            <a:r>
              <a:t>Cette décision ne retire pas l’intérêt du travail réalisé. Le calcul est reproductible, les anomalies sont localisées et les contrôles sont explicites. Elle fixe simplement le niveau de preuve nécessaire avant de présenter le résultat comme validé pour publication. Un calcul cohérent est une étape du processus ; l’accord avec les sources de référence et la couverture des données en sont deux autres.</a:t>
            </a:r>
          </a:p>
          <a:p xmlns:a="http://schemas.openxmlformats.org/drawingml/2006/main">
            <a:r>
              <a:t/>
            </a:r>
          </a:p>
          <a:p xmlns:a="http://schemas.openxmlformats.org/drawingml/2006/main">
            <a:r>
              <a:t>Source : accident.ipynb, archive accident_routier-main (2).zip. Source : accident.ipynb, décision et paramètres de rapprochement</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90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conseillé : 1 minute 15 — créneau 13:45 à 15:00.</a:t>
            </a:r>
          </a:p>
          <a:p xmlns:a="http://schemas.openxmlformats.org/drawingml/2006/main">
            <a:r>
              <a:t/>
            </a:r>
          </a:p>
          <a:p xmlns:a="http://schemas.openxmlformats.org/drawingml/2006/main">
            <a:r>
              <a:t>Pour conclure, le notebook construit une chaîne de traitement lisible : il charge les données, diagnostique les champs critiques, applique des règles de préparation, conserve un journal et vérifie les indicateurs. Sur les fichiers fournis, tous les accidents restent éligibles et les contrôles internes passent. Les résultats montrent une légère baisse du total annuel, avec des variations mensuelles contrastées.</a:t>
            </a:r>
          </a:p>
          <a:p xmlns:a="http://schemas.openxmlformats.org/drawingml/2006/main">
            <a:r>
              <a:t/>
            </a:r>
          </a:p>
          <a:p xmlns:a="http://schemas.openxmlformats.org/drawingml/2006/main">
            <a:r>
              <a:t>Trois suites sont nécessaires. Premièrement, obtenir la référence mensuelle officielle et confirmer que son périmètre correspond à celui du calcul. Deuxièmement, documenter la complétude des extractions auprès de leur producteur ou à partir de leurs manifestes. Troisièmement, vérifier les 118 gravités non exploitables de 2023, puis documenter toute correction confirmée.</a:t>
            </a:r>
          </a:p>
          <a:p xmlns:a="http://schemas.openxmlformats.org/drawingml/2006/main">
            <a:r>
              <a:t/>
            </a:r>
          </a:p>
          <a:p xmlns:a="http://schemas.openxmlformats.org/drawingml/2006/main">
            <a:r>
              <a:t>Après ces étapes, il faudra rejouer le traitement et les rapprochements pour réévaluer la décision. Le message à retenir est donc celui-ci : nous disposons d’un calcul traçable, avec des limites identifiées ; la validation externe reste à finaliser avant publication. Merci.</a:t>
            </a:r>
          </a:p>
          <a:p xmlns:a="http://schemas.openxmlformats.org/drawingml/2006/main">
            <a:r>
              <a:t/>
            </a:r>
          </a:p>
          <a:p xmlns:a="http://schemas.openxmlformats.org/drawingml/2006/main">
            <a:r>
              <a:t>Source : accident.ipynb, archive accident_routier-main (2).zip. Source : accident.ipynb, synthèse et limites de la décision</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75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de référence pour les questions. Les chiffres comptent des accidents et non des personnes.</a:t>
            </a:r>
          </a:p>
          <a:p xmlns:a="http://schemas.openxmlformats.org/drawingml/2006/main">
            <a:r>
              <a:t/>
            </a:r>
          </a:p>
          <a:p xmlns:a="http://schemas.openxmlformats.org/drawingml/2006/main">
            <a:r>
              <a:t>Source : accident.ipynb, archive accident_routier-main (2).zip. Source : accident.ipynb, tableau mensuel. Annexe hors des 15 minutes.</a:t>
            </a:r>
          </a:p>
          <a:p xmlns:a="http://schemas.openxmlformats.org/drawingml/2006/main">
            <a:r>
              <a:t>Références : numérotation des cellules à partir de 1. Chargement 3, diagnostic 5-6, préparation 9, journal 11, calcul mensuel 14, contrôles 15, décision 17.</a:t>
            </a:r>
          </a:p>
          <a:p xmlns:a="http://schemas.openxmlformats.org/drawingml/2006/main">
            <a:r>
              <a:t>Durée : 0 secondes.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10f77ccbec4a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ea6643240e42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7f3997ae4c4c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be59909c7a42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efcc5049ee49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608d192ee445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A6B528-7375-4597-862D-47254D5316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AB0F752-7A1B-4164-BE9C-DE7C98F393C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5CFA290-0976-4A5B-936A-210B3B4E02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078C16-B515-494B-B497-50AA1CF9A9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C4537D-0F5E-4AF4-8597-38022FC5BE5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AF8B22-29AB-4AE4-96EF-371A74C71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82C739-B5CC-4BFA-8DE8-E7DBC80D56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6F9A27-2C1B-4597-BAFF-0AD9455636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B3F14D-7A98-4805-AB79-3CC5BF0A47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CD8D63-01CF-4630-A525-A7B3A1BD54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b167ca302143f7" /><Relationship Type="http://schemas.openxmlformats.org/officeDocument/2006/relationships/slideLayout" Target="/ppt/slideLayouts/slideLayout1.xml" Id="Ra6b41eed25aa4b2a" /><Relationship Type="http://schemas.openxmlformats.org/officeDocument/2006/relationships/slideLayout" Target="/ppt/slideLayouts/slideLayout2.xml" Id="R90a1fbedc1f2400e" /><Relationship Type="http://schemas.openxmlformats.org/officeDocument/2006/relationships/slideLayout" Target="/ppt/slideLayouts/slideLayout3.xml" Id="R27c2323a339347eb" /><Relationship Type="http://schemas.openxmlformats.org/officeDocument/2006/relationships/slideLayout" Target="/ppt/slideLayouts/slideLayout4.xml" Id="R8e522333ebf94249" /><Relationship Type="http://schemas.openxmlformats.org/officeDocument/2006/relationships/slideLayout" Target="/ppt/slideLayouts/slideLayout5.xml" Id="R8eb1a90cf55545b9" /><Relationship Type="http://schemas.openxmlformats.org/officeDocument/2006/relationships/slideLayout" Target="/ppt/slideLayouts/slideLayout6.xml" Id="R9e5b7fd7da294a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b41eed25aa4b2a"/>
    <p:sldLayoutId xmlns:r="http://schemas.openxmlformats.org/officeDocument/2006/relationships" id="2147483650" r:id="R90a1fbedc1f2400e"/>
    <p:sldLayoutId xmlns:r="http://schemas.openxmlformats.org/officeDocument/2006/relationships" id="2147483651" r:id="R27c2323a339347eb"/>
    <p:sldLayoutId xmlns:r="http://schemas.openxmlformats.org/officeDocument/2006/relationships" id="2147483652" r:id="R8e522333ebf94249"/>
    <p:sldLayoutId xmlns:r="http://schemas.openxmlformats.org/officeDocument/2006/relationships" id="2147483653" r:id="R8eb1a90cf55545b9"/>
    <p:sldLayoutId xmlns:r="http://schemas.openxmlformats.org/officeDocument/2006/relationships" id="2147483654" r:id="R9e5b7fd7da294a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040f5689bc6474e" /><Relationship Type="http://schemas.openxmlformats.org/officeDocument/2006/relationships/notesSlide" Target="/ppt/notesSlides/notesSlide1.xml" Id="R1634a592af1f4f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4101ba53f544fa" /><Relationship Type="http://schemas.openxmlformats.org/officeDocument/2006/relationships/notesSlide" Target="/ppt/notesSlides/notesSlide2.xml" Id="Rd07e4ef141924e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6bf236c88354c36" /><Relationship Type="http://schemas.openxmlformats.org/officeDocument/2006/relationships/notesSlide" Target="/ppt/notesSlides/notesSlide3.xml" Id="R84a3a73f5fe541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7553a01f314202" /><Relationship Type="http://schemas.openxmlformats.org/officeDocument/2006/relationships/notesSlide" Target="/ppt/notesSlides/notesSlide4.xml" Id="R95b654775eda40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fb32ee616a041b5" /><Relationship Type="http://schemas.openxmlformats.org/officeDocument/2006/relationships/notesSlide" Target="/ppt/notesSlides/notesSlide5.xml" Id="R4d25bf57c9fb4f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7e66ee420c43c6" /><Relationship Type="http://schemas.openxmlformats.org/officeDocument/2006/relationships/notesSlide" Target="/ppt/notesSlides/notesSlide6.xml" Id="Re6bb9c3e330d45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82b709a9b6044bb" /><Relationship Type="http://schemas.openxmlformats.org/officeDocument/2006/relationships/notesSlide" Target="/ppt/notesSlides/notesSlide7.xml" Id="R623d832e6c2e4c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0d42600bcc42a5" /><Relationship Type="http://schemas.openxmlformats.org/officeDocument/2006/relationships/chart" Target="/ppt/slides/charts/chart1.xml" Id="Rcdd5a923c6394003" /><Relationship Type="http://schemas.openxmlformats.org/officeDocument/2006/relationships/notesSlide" Target="/ppt/notesSlides/notesSlide8.xml" Id="R68d6423d705d4f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c5ff0c6e1f04101" /><Relationship Type="http://schemas.openxmlformats.org/officeDocument/2006/relationships/chart" Target="/ppt/slides/charts/chart2.xml" Id="R78dbfa6a1e4b48a5" /><Relationship Type="http://schemas.openxmlformats.org/officeDocument/2006/relationships/notesSlide" Target="/ppt/notesSlides/notesSlide9.xml" Id="R7d5b67fe549647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7f2533a33a4425e" /><Relationship Type="http://schemas.openxmlformats.org/officeDocument/2006/relationships/chart" Target="/ppt/slides/charts/chart3.xml" Id="R2375576273424428" /><Relationship Type="http://schemas.openxmlformats.org/officeDocument/2006/relationships/notesSlide" Target="/ppt/notesSlides/notesSlide10.xml" Id="Rdb48fdfeabaa48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a7e4731842f49b8" /><Relationship Type="http://schemas.openxmlformats.org/officeDocument/2006/relationships/notesSlide" Target="/ppt/notesSlides/notesSlide11.xml" Id="R6a14a5c826cd45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baade608f3f4d90" /><Relationship Type="http://schemas.openxmlformats.org/officeDocument/2006/relationships/notesSlide" Target="/ppt/notesSlides/notesSlide12.xml" Id="R62124b7bfad940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7d44373bc8e4ba3" /><Relationship Type="http://schemas.openxmlformats.org/officeDocument/2006/relationships/notesSlide" Target="/ppt/notesSlides/notesSlide13.xml" Id="R403dd56bab6b48f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61756F"/>
                </a:solidFill>
                <a:latin typeface="Calibri"/>
                <a:ea typeface="Calibri"/>
                <a:cs typeface="Calibri"/>
              </a:rPr>
              <a:t>Nombre d’accidents éligibles</a:t>
            </a:r>
          </a:p>
        </c:rich>
      </c:tx>
      <c:overlay val="0"/>
      <c:txPr>
        <a:bodyPr xmlns:a="http://schemas.openxmlformats.org/drawingml/2006/main" anchorCtr="1"/>
        <a:lstStyle xmlns:a="http://schemas.openxmlformats.org/drawingml/2006/main"/>
        <a:p xmlns:a="http://schemas.openxmlformats.org/drawingml/2006/main">
          <a:pPr>
            <a:defRPr sz="1650">
              <a:solidFill>
                <a:srgbClr val="61756F"/>
              </a:solidFill>
              <a:latin typeface="Calibri"/>
              <a:ea typeface="Calibri"/>
              <a:cs typeface="Calibri"/>
            </a:defRPr>
          </a:pPr>
        </a:p>
      </c:txPr>
    </c:title>
    <c:plotArea>
      <c:barChart>
        <c:barDir val="col"/>
        <c:grouping val="clustered"/>
        <c:varyColors val="0"/>
        <c:ser>
          <c:idx val="0"/>
          <c:order val="0"/>
          <c:tx>
            <c:v>Nombre d’accidents éligibles</c:v>
          </c:tx>
          <c:spPr>
            <a:solidFill xmlns:a="http://schemas.openxmlformats.org/drawingml/2006/main">
              <a:srgbClr val="237D70"/>
            </a:solidFill>
          </c:spPr>
          <c:invertIfNegative val="0"/>
          <c:dPt>
            <c:idx val="0"/>
            <c:invertIfNegative val="0"/>
            <c:spPr>
              <a:solidFill xmlns:a="http://schemas.openxmlformats.org/drawingml/2006/main">
                <a:srgbClr val="237D70"/>
              </a:solidFill>
            </c:spPr>
          </c:dPt>
          <c:dPt>
            <c:idx val="1"/>
            <c:invertIfNegative val="0"/>
            <c:spPr>
              <a:solidFill xmlns:a="http://schemas.openxmlformats.org/drawingml/2006/main">
                <a:srgbClr val="C1663F"/>
              </a:solidFill>
            </c:spPr>
          </c:dPt>
          <c:cat>
            <c:numRef>
              <c:f>'Chart Data'!$A$2:$A$3</c:f>
              <c:numCache>
                <c:formatCode>General</c:formatCode>
                <c:ptCount val="2"/>
                <c:pt idx="0">
                  <c:v>2023</c:v>
                </c:pt>
                <c:pt idx="1">
                  <c:v>2024</c:v>
                </c:pt>
              </c:numCache>
            </c:numRef>
          </c:cat>
          <c:val>
            <c:numRef>
              <c:f>'Chart Data'!$B$2:$B$3</c:f>
              <c:numCache>
                <c:formatCode># ##0</c:formatCode>
                <c:ptCount val="2"/>
                <c:pt idx="0">
                  <c:v>54822</c:v>
                </c:pt>
                <c:pt idx="1">
                  <c:v>54402</c:v>
                </c:pt>
              </c:numCache>
            </c:numRef>
          </c:val>
        </c:ser>
        <c:dLbls>
          <c:numFmt formatCode="# ##0" sourceLinked="0"/>
          <c:txPr>
            <a:bodyPr xmlns:a="http://schemas.openxmlformats.org/drawingml/2006/main" anchorCtr="1"/>
            <a:lstStyle xmlns:a="http://schemas.openxmlformats.org/drawingml/2006/main"/>
            <a:p xmlns:a="http://schemas.openxmlformats.org/drawingml/2006/main">
              <a:pPr>
                <a:defRPr sz="2100" b="1">
                  <a:solidFill>
                    <a:srgbClr val="163E39"/>
                  </a:solidFill>
                  <a:latin typeface="Calibri"/>
                  <a:ea typeface="Calibri"/>
                  <a:cs typeface="Calibri"/>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FD8"/>
            </a:solidFill>
          </a:ln>
        </c:spPr>
        <c:txPr>
          <a:bodyPr xmlns:a="http://schemas.openxmlformats.org/drawingml/2006/main" anchorCtr="1"/>
          <a:lstStyle xmlns:a="http://schemas.openxmlformats.org/drawingml/2006/main"/>
          <a:p xmlns:a="http://schemas.openxmlformats.org/drawingml/2006/main">
            <a:pPr>
              <a:defRPr sz="1875">
                <a:solidFill>
                  <a:srgbClr val="163E39"/>
                </a:solidFill>
                <a:latin typeface="Calibri"/>
                <a:ea typeface="Calibri"/>
                <a:cs typeface="Calibri"/>
              </a:defRPr>
            </a:pPr>
          </a:p>
        </c:txPr>
        <c:crossAx val="48672768"/>
      </c:catAx>
      <c:valAx>
        <c:axId val="48672768"/>
        <c:scaling>
          <c:orientation val="minMax"/>
          <c:max val="60000"/>
          <c:min val="0"/>
        </c:scaling>
        <c:delete val="0"/>
        <c:axPos val="l"/>
        <c:majorGridlines>
          <c:spPr>
            <a:ln xmlns:a="http://schemas.openxmlformats.org/drawingml/2006/main" w="9525">
              <a:solidFill>
                <a:srgbClr val="D9DFD8"/>
              </a:solidFill>
            </a:ln>
          </c:spPr>
        </c:majorGridlines>
        <c:numFmt formatCode="# ##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1756F"/>
                </a:solidFill>
                <a:latin typeface="Calibri"/>
                <a:ea typeface="Calibri"/>
                <a:cs typeface="Calibri"/>
              </a:defRPr>
            </a:pPr>
          </a:p>
        </c:txPr>
        <c:crossAx val="48650112"/>
        <c:crossBetween val="between"/>
        <c:majorUnit val="15000"/>
      </c:valAx>
      <c:spPr>
        <a:solidFill xmlns:a="http://schemas.openxmlformats.org/drawingml/2006/main">
          <a:srgbClr val="F5F4EE"/>
        </a:solidFill>
        <a:ln xmlns:a="http://schemas.openxmlformats.org/drawingml/2006/main" w="0">
          <a:noFill/>
        </a:ln>
      </c:spPr>
    </c:plotArea>
    <c:plotVisOnly val="1"/>
  </c:chart>
  <c:spPr>
    <a:solidFill xmlns:a="http://schemas.openxmlformats.org/drawingml/2006/main">
      <a:srgbClr val="F5F4EE"/>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61756F"/>
                </a:solidFill>
                <a:latin typeface="Calibri"/>
                <a:ea typeface="Calibri"/>
                <a:cs typeface="Calibri"/>
              </a:rPr>
              <a:t>Accidents éligibles par mois</a:t>
            </a:r>
          </a:p>
        </c:rich>
      </c:tx>
      <c:overlay val="0"/>
      <c:txPr>
        <a:bodyPr xmlns:a="http://schemas.openxmlformats.org/drawingml/2006/main" anchorCtr="1"/>
        <a:lstStyle xmlns:a="http://schemas.openxmlformats.org/drawingml/2006/main"/>
        <a:p xmlns:a="http://schemas.openxmlformats.org/drawingml/2006/main">
          <a:pPr>
            <a:defRPr sz="1650">
              <a:solidFill>
                <a:srgbClr val="61756F"/>
              </a:solidFill>
              <a:latin typeface="Calibri"/>
              <a:ea typeface="Calibri"/>
              <a:cs typeface="Calibri"/>
            </a:defRPr>
          </a:pPr>
        </a:p>
      </c:txPr>
    </c:title>
    <c:plotArea>
      <c:lineChart>
        <c:grouping val="standard"/>
        <c:varyColors val="0"/>
        <c:ser>
          <c:idx val="0"/>
          <c:order val="0"/>
          <c:tx>
            <c:v>2023</c:v>
          </c:tx>
          <c:spPr>
            <a:ln xmlns:a="http://schemas.openxmlformats.org/drawingml/2006/main" w="38100">
              <a:solidFill>
                <a:srgbClr val="237D70"/>
              </a:solidFill>
            </a:ln>
          </c:spPr>
          <c:marker>
            <c:symbol val="circle"/>
            <c:size val="7"/>
            <c:spPr>
              <a:solidFill xmlns:a="http://schemas.openxmlformats.org/drawingml/2006/main">
                <a:srgbClr val="237D70"/>
              </a:solidFill>
            </c:spPr>
          </c:marker>
          <c:cat>
            <c:strRef>
              <c:f>'Chart Data'!$A$2:$A$13</c:f>
              <c:strCache>
                <c:ptCount val="12"/>
                <c:pt idx="0">
                  <c:v>Janv.</c:v>
                </c:pt>
                <c:pt idx="1">
                  <c:v>Févr.</c:v>
                </c:pt>
                <c:pt idx="2">
                  <c:v>Mars</c:v>
                </c:pt>
                <c:pt idx="3">
                  <c:v>Avr.</c:v>
                </c:pt>
                <c:pt idx="4">
                  <c:v>Mai</c:v>
                </c:pt>
                <c:pt idx="5">
                  <c:v>Juin</c:v>
                </c:pt>
                <c:pt idx="6">
                  <c:v>Juil.</c:v>
                </c:pt>
                <c:pt idx="7">
                  <c:v>Août</c:v>
                </c:pt>
                <c:pt idx="8">
                  <c:v>Sept.</c:v>
                </c:pt>
                <c:pt idx="9">
                  <c:v>Oct.</c:v>
                </c:pt>
                <c:pt idx="10">
                  <c:v>Nov.</c:v>
                </c:pt>
                <c:pt idx="11">
                  <c:v>Déc.</c:v>
                </c:pt>
              </c:strCache>
            </c:strRef>
          </c:cat>
          <c:val>
            <c:numRef>
              <c:f>'Chart Data'!$B$2:$B$13</c:f>
              <c:numCache>
                <c:formatCode># ##0</c:formatCode>
                <c:ptCount val="12"/>
                <c:pt idx="0">
                  <c:v>4053</c:v>
                </c:pt>
                <c:pt idx="1">
                  <c:v>3682</c:v>
                </c:pt>
                <c:pt idx="2">
                  <c:v>3998</c:v>
                </c:pt>
                <c:pt idx="3">
                  <c:v>4162</c:v>
                </c:pt>
                <c:pt idx="4">
                  <c:v>4767</c:v>
                </c:pt>
                <c:pt idx="5">
                  <c:v>5452</c:v>
                </c:pt>
                <c:pt idx="6">
                  <c:v>4754</c:v>
                </c:pt>
                <c:pt idx="7">
                  <c:v>4121</c:v>
                </c:pt>
                <c:pt idx="8">
                  <c:v>5161</c:v>
                </c:pt>
                <c:pt idx="9">
                  <c:v>5389</c:v>
                </c:pt>
                <c:pt idx="10">
                  <c:v>4833</c:v>
                </c:pt>
                <c:pt idx="11">
                  <c:v>4450</c:v>
                </c:pt>
              </c:numCache>
            </c:numRef>
          </c:val>
          <c:smooth val="0"/>
        </c:ser>
        <c:ser>
          <c:idx val="1"/>
          <c:order val="1"/>
          <c:tx>
            <c:v>2024</c:v>
          </c:tx>
          <c:spPr>
            <a:ln xmlns:a="http://schemas.openxmlformats.org/drawingml/2006/main" w="38100">
              <a:solidFill>
                <a:srgbClr val="C1663F"/>
              </a:solidFill>
            </a:ln>
          </c:spPr>
          <c:marker>
            <c:symbol val="square"/>
            <c:size val="7"/>
            <c:spPr>
              <a:solidFill xmlns:a="http://schemas.openxmlformats.org/drawingml/2006/main">
                <a:srgbClr val="C1663F"/>
              </a:solidFill>
            </c:spPr>
          </c:marker>
          <c:cat>
            <c:strRef>
              <c:f>'Chart Data'!$C$2:$C$13</c:f>
              <c:strCache>
                <c:ptCount val="12"/>
                <c:pt idx="0">
                  <c:v>Janv.</c:v>
                </c:pt>
                <c:pt idx="1">
                  <c:v>Févr.</c:v>
                </c:pt>
                <c:pt idx="2">
                  <c:v>Mars</c:v>
                </c:pt>
                <c:pt idx="3">
                  <c:v>Avr.</c:v>
                </c:pt>
                <c:pt idx="4">
                  <c:v>Mai</c:v>
                </c:pt>
                <c:pt idx="5">
                  <c:v>Juin</c:v>
                </c:pt>
                <c:pt idx="6">
                  <c:v>Juil.</c:v>
                </c:pt>
                <c:pt idx="7">
                  <c:v>Août</c:v>
                </c:pt>
                <c:pt idx="8">
                  <c:v>Sept.</c:v>
                </c:pt>
                <c:pt idx="9">
                  <c:v>Oct.</c:v>
                </c:pt>
                <c:pt idx="10">
                  <c:v>Nov.</c:v>
                </c:pt>
                <c:pt idx="11">
                  <c:v>Déc.</c:v>
                </c:pt>
              </c:strCache>
            </c:strRef>
          </c:cat>
          <c:val>
            <c:numRef>
              <c:f>'Chart Data'!$D$2:$D$13</c:f>
              <c:numCache>
                <c:formatCode># ##0</c:formatCode>
                <c:ptCount val="12"/>
                <c:pt idx="0">
                  <c:v>4069</c:v>
                </c:pt>
                <c:pt idx="1">
                  <c:v>3792</c:v>
                </c:pt>
                <c:pt idx="2">
                  <c:v>4370</c:v>
                </c:pt>
                <c:pt idx="3">
                  <c:v>4586</c:v>
                </c:pt>
                <c:pt idx="4">
                  <c:v>4517</c:v>
                </c:pt>
                <c:pt idx="5">
                  <c:v>5135</c:v>
                </c:pt>
                <c:pt idx="6">
                  <c:v>5209</c:v>
                </c:pt>
                <c:pt idx="7">
                  <c:v>4450</c:v>
                </c:pt>
                <c:pt idx="8">
                  <c:v>4620</c:v>
                </c:pt>
                <c:pt idx="9">
                  <c:v>4803</c:v>
                </c:pt>
                <c:pt idx="10">
                  <c:v>4477</c:v>
                </c:pt>
                <c:pt idx="11">
                  <c:v>4374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FD8"/>
            </a:solidFill>
          </a:ln>
        </c:spPr>
        <c:txPr>
          <a:bodyPr xmlns:a="http://schemas.openxmlformats.org/drawingml/2006/main" anchorCtr="1"/>
          <a:lstStyle xmlns:a="http://schemas.openxmlformats.org/drawingml/2006/main"/>
          <a:p xmlns:a="http://schemas.openxmlformats.org/drawingml/2006/main">
            <a:pPr>
              <a:defRPr sz="1500">
                <a:solidFill>
                  <a:srgbClr val="61756F"/>
                </a:solidFill>
                <a:latin typeface="Calibri"/>
                <a:ea typeface="Calibri"/>
                <a:cs typeface="Calibri"/>
              </a:defRPr>
            </a:pPr>
          </a:p>
        </c:txPr>
        <c:crossAx val="48672768"/>
      </c:catAx>
      <c:valAx>
        <c:axId val="48672768"/>
        <c:scaling>
          <c:orientation val="minMax"/>
          <c:max val="6000"/>
          <c:min val="3000"/>
        </c:scaling>
        <c:delete val="0"/>
        <c:axPos val="l"/>
        <c:majorGridlines>
          <c:spPr>
            <a:ln xmlns:a="http://schemas.openxmlformats.org/drawingml/2006/main" w="9525">
              <a:solidFill>
                <a:srgbClr val="D9DFD8"/>
              </a:solidFill>
            </a:ln>
          </c:spPr>
        </c:majorGridlines>
        <c:numFmt formatCode="# ##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1756F"/>
                </a:solidFill>
                <a:latin typeface="Calibri"/>
                <a:ea typeface="Calibri"/>
                <a:cs typeface="Calibri"/>
              </a:defRPr>
            </a:pPr>
          </a:p>
        </c:txPr>
        <c:crossAx val="48650112"/>
        <c:crossBetween val="between"/>
        <c:majorUnit val="1000"/>
      </c:valAx>
      <c:spPr>
        <a:solidFill xmlns:a="http://schemas.openxmlformats.org/drawingml/2006/main">
          <a:srgbClr val="F5F4EE"/>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E39"/>
              </a:solidFill>
              <a:latin typeface="Calibri"/>
              <a:ea typeface="Calibri"/>
              <a:cs typeface="Calibri"/>
            </a:defRPr>
          </a:pPr>
        </a:p>
      </c:txPr>
    </c:legend>
    <c:plotVisOnly val="1"/>
  </c:chart>
  <c:spPr>
    <a:solidFill xmlns:a="http://schemas.openxmlformats.org/drawingml/2006/main">
      <a:srgbClr val="F5F4EE"/>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61756F"/>
                </a:solidFill>
                <a:latin typeface="Calibri"/>
                <a:ea typeface="Calibri"/>
                <a:cs typeface="Calibri"/>
              </a:rPr>
              <a:t>Accidents avec au moins un usager grav = 2</a:t>
            </a:r>
          </a:p>
        </c:rich>
      </c:tx>
      <c:overlay val="0"/>
      <c:txPr>
        <a:bodyPr xmlns:a="http://schemas.openxmlformats.org/drawingml/2006/main" anchorCtr="1"/>
        <a:lstStyle xmlns:a="http://schemas.openxmlformats.org/drawingml/2006/main"/>
        <a:p xmlns:a="http://schemas.openxmlformats.org/drawingml/2006/main">
          <a:pPr>
            <a:defRPr sz="1650">
              <a:solidFill>
                <a:srgbClr val="61756F"/>
              </a:solidFill>
              <a:latin typeface="Calibri"/>
              <a:ea typeface="Calibri"/>
              <a:cs typeface="Calibri"/>
            </a:defRPr>
          </a:pPr>
        </a:p>
      </c:txPr>
    </c:title>
    <c:plotArea>
      <c:barChart>
        <c:barDir val="col"/>
        <c:grouping val="clustered"/>
        <c:varyColors val="0"/>
        <c:ser>
          <c:idx val="0"/>
          <c:order val="0"/>
          <c:tx>
            <c:v>Accidents avec au moins un usager grav = 2</c:v>
          </c:tx>
          <c:spPr>
            <a:solidFill xmlns:a="http://schemas.openxmlformats.org/drawingml/2006/main">
              <a:srgbClr val="237D70"/>
            </a:solidFill>
          </c:spPr>
          <c:invertIfNegative val="0"/>
          <c:dPt>
            <c:idx val="0"/>
            <c:invertIfNegative val="0"/>
            <c:spPr>
              <a:solidFill xmlns:a="http://schemas.openxmlformats.org/drawingml/2006/main">
                <a:srgbClr val="237D70"/>
              </a:solidFill>
            </c:spPr>
          </c:dPt>
          <c:dPt>
            <c:idx val="1"/>
            <c:invertIfNegative val="0"/>
            <c:spPr>
              <a:solidFill xmlns:a="http://schemas.openxmlformats.org/drawingml/2006/main">
                <a:srgbClr val="C1663F"/>
              </a:solidFill>
            </c:spPr>
          </c:dPt>
          <c:cat>
            <c:numRef>
              <c:f>'Chart Data'!$A$2:$A$3</c:f>
              <c:numCache>
                <c:formatCode>General</c:formatCode>
                <c:ptCount val="2"/>
                <c:pt idx="0">
                  <c:v>2023</c:v>
                </c:pt>
                <c:pt idx="1">
                  <c:v>2024</c:v>
                </c:pt>
              </c:numCache>
            </c:numRef>
          </c:cat>
          <c:val>
            <c:numRef>
              <c:f>'Chart Data'!$B$2:$B$3</c:f>
              <c:numCache>
                <c:formatCode># ##0</c:formatCode>
                <c:ptCount val="2"/>
                <c:pt idx="0">
                  <c:v>3203</c:v>
                </c:pt>
                <c:pt idx="1">
                  <c:v>3226</c:v>
                </c:pt>
              </c:numCache>
            </c:numRef>
          </c:val>
        </c:ser>
        <c:dLbls>
          <c:numFmt formatCode="# ##0" sourceLinked="0"/>
          <c:txPr>
            <a:bodyPr xmlns:a="http://schemas.openxmlformats.org/drawingml/2006/main" anchorCtr="1"/>
            <a:lstStyle xmlns:a="http://schemas.openxmlformats.org/drawingml/2006/main"/>
            <a:p xmlns:a="http://schemas.openxmlformats.org/drawingml/2006/main">
              <a:pPr>
                <a:defRPr sz="2100" b="1">
                  <a:solidFill>
                    <a:srgbClr val="163E39"/>
                  </a:solidFill>
                  <a:latin typeface="Calibri"/>
                  <a:ea typeface="Calibri"/>
                  <a:cs typeface="Calibri"/>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FD8"/>
            </a:solidFill>
          </a:ln>
        </c:spPr>
        <c:txPr>
          <a:bodyPr xmlns:a="http://schemas.openxmlformats.org/drawingml/2006/main" anchorCtr="1"/>
          <a:lstStyle xmlns:a="http://schemas.openxmlformats.org/drawingml/2006/main"/>
          <a:p xmlns:a="http://schemas.openxmlformats.org/drawingml/2006/main">
            <a:pPr>
              <a:defRPr sz="1875">
                <a:solidFill>
                  <a:srgbClr val="163E39"/>
                </a:solidFill>
                <a:latin typeface="Calibri"/>
                <a:ea typeface="Calibri"/>
                <a:cs typeface="Calibri"/>
              </a:defRPr>
            </a:pPr>
          </a:p>
        </c:txPr>
        <c:crossAx val="48672768"/>
      </c:catAx>
      <c:valAx>
        <c:axId val="48672768"/>
        <c:scaling>
          <c:orientation val="minMax"/>
          <c:max val="4000"/>
          <c:min val="0"/>
        </c:scaling>
        <c:delete val="0"/>
        <c:axPos val="l"/>
        <c:majorGridlines>
          <c:spPr>
            <a:ln xmlns:a="http://schemas.openxmlformats.org/drawingml/2006/main" w="9525">
              <a:solidFill>
                <a:srgbClr val="D9DFD8"/>
              </a:solidFill>
            </a:ln>
          </c:spPr>
        </c:majorGridlines>
        <c:numFmt formatCode="# ##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1756F"/>
                </a:solidFill>
                <a:latin typeface="Calibri"/>
                <a:ea typeface="Calibri"/>
                <a:cs typeface="Calibri"/>
              </a:defRPr>
            </a:pPr>
          </a:p>
        </c:txPr>
        <c:crossAx val="48650112"/>
        <c:crossBetween val="between"/>
        <c:majorUnit val="1000"/>
      </c:valAx>
      <c:spPr>
        <a:solidFill xmlns:a="http://schemas.openxmlformats.org/drawingml/2006/main">
          <a:srgbClr val="F5F4EE"/>
        </a:solidFill>
        <a:ln xmlns:a="http://schemas.openxmlformats.org/drawingml/2006/main" w="0">
          <a:noFill/>
        </a:ln>
      </c:spPr>
    </c:plotArea>
    <c:plotVisOnly val="1"/>
  </c:chart>
  <c:spPr>
    <a:solidFill xmlns:a="http://schemas.openxmlformats.org/drawingml/2006/main">
      <a:srgbClr val="F5F4E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3E39"/>
        </a:solidFill>
      </p:bgPr>
    </p:bg>
    <p:spTree>
      <p:nvGrpSpPr>
        <p:cNvPr id="1" name=""/>
        <p:cNvGrpSpPr/>
        <p:nvPr/>
      </p:nvGrpSpPr>
      <p:grpSpPr>
        <a:xfrm xmlns:a="http://schemas.openxmlformats.org/drawingml/2006/main"/>
      </p:grpSpPr>
      <p:sp>
        <p:nvSpPr>
          <p:cNvPr id="7" name="Source : accident.ipynb, données BAAC 2023 et 2024">
            <a:extLst xmlns:a="http://schemas.openxmlformats.org/drawingml/2006/main">
              <a:ext uri="{FF2B5EF4-FFF2-40B4-BE49-F238E27FC236}">
                <a16:creationId xmlns:a16="http://schemas.microsoft.com/office/drawing/2014/main" id="{70DE99B8-E364-4C56-95A5-AEB2CB7231E4}"/>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BDCEC6"/>
                </a:solidFill>
                <a:latin typeface="Calibri"/>
                <a:ea typeface="Calibri"/>
                <a:cs typeface="Calibri"/>
              </a:defRPr>
            </a:defPPr>
          </a:lstStyle>
          <a:p xmlns:a="http://schemas.openxmlformats.org/drawingml/2006/main">
            <a:pPr algn="l">
              <a:defRPr sz="1125" b="0">
                <a:solidFill>
                  <a:srgbClr val="BDCEC6"/>
                </a:solidFill>
                <a:latin typeface="Calibri"/>
                <a:ea typeface="Calibri"/>
                <a:cs typeface="Calibri"/>
              </a:defRPr>
            </a:pPr>
            <a:r>
              <a:rPr sz="1125" b="0">
                <a:solidFill>
                  <a:srgbClr val="BDCEC6"/>
                </a:solidFill>
                <a:latin typeface="Calibri"/>
                <a:ea typeface="Calibri"/>
                <a:cs typeface="Calibri"/>
              </a:rPr>
              <a:t>Source : accident.ipynb, données BAAC 2023 et 2024</a:t>
            </a:r>
          </a:p>
        </p:txBody>
      </p:sp>
      <p:sp>
        <p:nvSpPr>
          <p:cNvPr id="2" name="01">
            <a:extLst xmlns:a="http://schemas.openxmlformats.org/drawingml/2006/main">
              <a:ext uri="{FF2B5EF4-FFF2-40B4-BE49-F238E27FC236}">
                <a16:creationId xmlns:a16="http://schemas.microsoft.com/office/drawing/2014/main" id="{8F149DE5-7DE6-463F-9D42-AB6310A4E546}"/>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BDCEC6"/>
                </a:solidFill>
                <a:latin typeface="Calibri"/>
                <a:ea typeface="Calibri"/>
                <a:cs typeface="Calibri"/>
              </a:defRPr>
            </a:defPPr>
          </a:lstStyle>
          <a:p xmlns:a="http://schemas.openxmlformats.org/drawingml/2006/main">
            <a:pPr algn="r">
              <a:defRPr sz="1200" b="0">
                <a:solidFill>
                  <a:srgbClr val="BDCEC6"/>
                </a:solidFill>
                <a:latin typeface="Calibri"/>
                <a:ea typeface="Calibri"/>
                <a:cs typeface="Calibri"/>
              </a:defRPr>
            </a:pPr>
            <a:r>
              <a:rPr sz="1200" b="0">
                <a:solidFill>
                  <a:srgbClr val="BDCEC6"/>
                </a:solidFill>
                <a:latin typeface="Calibri"/>
                <a:ea typeface="Calibri"/>
                <a:cs typeface="Calibri"/>
              </a:rPr>
              <a:t>01</a:t>
            </a:r>
          </a:p>
        </p:txBody>
      </p:sp>
      <p:sp>
        <p:nvSpPr>
          <p:cNvPr id="3" name="BAAC 2023 / 2024">
            <a:extLst xmlns:a="http://schemas.openxmlformats.org/drawingml/2006/main">
              <a:ext uri="{FF2B5EF4-FFF2-40B4-BE49-F238E27FC236}">
                <a16:creationId xmlns:a16="http://schemas.microsoft.com/office/drawing/2014/main" id="{B3923A2D-0F40-478A-8CD5-BC2C96A3B1D5}"/>
              </a:ext>
            </a:extLst>
          </p:cNvPr>
          <p:cNvSpPr>
            <a:spLocks xmlns:a="http://schemas.openxmlformats.org/drawingml/2006/main" noGrp="1"/>
          </p:cNvSpPr>
          <p:nvPr/>
        </p:nvSpPr>
        <p:spPr>
          <a:xfrm xmlns:a="http://schemas.openxmlformats.org/drawingml/2006/main">
            <a:off x="685800" y="87630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BDCEC6"/>
                </a:solidFill>
                <a:latin typeface="Calibri"/>
                <a:ea typeface="Calibri"/>
                <a:cs typeface="Calibri"/>
              </a:defRPr>
            </a:defPPr>
          </a:lstStyle>
          <a:p xmlns:a="http://schemas.openxmlformats.org/drawingml/2006/main">
            <a:pPr algn="l">
              <a:defRPr sz="1875" b="0">
                <a:solidFill>
                  <a:srgbClr val="BDCEC6"/>
                </a:solidFill>
                <a:latin typeface="Calibri"/>
                <a:ea typeface="Calibri"/>
                <a:cs typeface="Calibri"/>
              </a:defRPr>
            </a:pPr>
            <a:r>
              <a:rPr sz="1875" b="0">
                <a:solidFill>
                  <a:srgbClr val="BDCEC6"/>
                </a:solidFill>
                <a:latin typeface="Calibri"/>
                <a:ea typeface="Calibri"/>
                <a:cs typeface="Calibri"/>
              </a:rPr>
              <a:t>BAAC 2023 / 2024</a:t>
            </a:r>
          </a:p>
        </p:txBody>
      </p:sp>
      <p:sp>
        <p:nvSpPr>
          <p:cNvPr id="4" name="Qualité des données&#10;d’accidents routiers">
            <a:extLst xmlns:a="http://schemas.openxmlformats.org/drawingml/2006/main">
              <a:ext uri="{FF2B5EF4-FFF2-40B4-BE49-F238E27FC236}">
                <a16:creationId xmlns:a16="http://schemas.microsoft.com/office/drawing/2014/main" id="{1EF0691C-7546-4C08-BD06-FDFF3BA74C47}"/>
              </a:ext>
            </a:extLst>
          </p:cNvPr>
          <p:cNvSpPr>
            <a:spLocks xmlns:a="http://schemas.openxmlformats.org/drawingml/2006/main" noGrp="1"/>
          </p:cNvSpPr>
          <p:nvPr/>
        </p:nvSpPr>
        <p:spPr>
          <a:xfrm xmlns:a="http://schemas.openxmlformats.org/drawingml/2006/main">
            <a:off x="685800" y="1905000"/>
            <a:ext cx="1047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100" b="1">
                <a:solidFill>
                  <a:srgbClr val="FFFFFF"/>
                </a:solidFill>
                <a:latin typeface="Calibri"/>
                <a:ea typeface="Calibri"/>
                <a:cs typeface="Calibri"/>
              </a:defRPr>
            </a:defPPr>
          </a:lstStyle>
          <a:p xmlns:a="http://schemas.openxmlformats.org/drawingml/2006/main">
            <a:pPr algn="l">
              <a:defRPr sz="5100" b="1">
                <a:solidFill>
                  <a:srgbClr val="FFFFFF"/>
                </a:solidFill>
                <a:latin typeface="Calibri"/>
                <a:ea typeface="Calibri"/>
                <a:cs typeface="Calibri"/>
              </a:defRPr>
            </a:pPr>
            <a:r>
              <a:rPr sz="5100" b="1">
                <a:solidFill>
                  <a:srgbClr val="FFFFFF"/>
                </a:solidFill>
                <a:latin typeface="Calibri"/>
                <a:ea typeface="Calibri"/>
                <a:cs typeface="Calibri"/>
              </a:rPr>
              <a:t>Qualité des données</a:t>
            </a:r>
          </a:p>
          <a:p xmlns:a="http://schemas.openxmlformats.org/drawingml/2006/main">
            <a:pPr algn="l">
              <a:defRPr sz="5100" b="1">
                <a:solidFill>
                  <a:srgbClr val="FFFFFF"/>
                </a:solidFill>
                <a:latin typeface="Calibri"/>
                <a:ea typeface="Calibri"/>
                <a:cs typeface="Calibri"/>
              </a:defRPr>
            </a:pPr>
            <a:r>
              <a:rPr sz="5100" b="1">
                <a:solidFill>
                  <a:srgbClr val="FFFFFF"/>
                </a:solidFill>
                <a:latin typeface="Calibri"/>
                <a:ea typeface="Calibri"/>
                <a:cs typeface="Calibri"/>
              </a:rPr>
              <a:t>d’accidents routiers</a:t>
            </a:r>
          </a:p>
        </p:txBody>
      </p:sp>
      <p:sp>
        <p:nvSpPr>
          <p:cNvPr id="5" name="Diagnostic, indicateurs mensuels&#10;et décision de publication">
            <a:extLst xmlns:a="http://schemas.openxmlformats.org/drawingml/2006/main">
              <a:ext uri="{FF2B5EF4-FFF2-40B4-BE49-F238E27FC236}">
                <a16:creationId xmlns:a16="http://schemas.microsoft.com/office/drawing/2014/main" id="{E4B9A973-06B1-4C71-84D2-07CD00F5F7B6}"/>
              </a:ext>
            </a:extLst>
          </p:cNvPr>
          <p:cNvSpPr>
            <a:spLocks xmlns:a="http://schemas.openxmlformats.org/drawingml/2006/main" noGrp="1"/>
          </p:cNvSpPr>
          <p:nvPr/>
        </p:nvSpPr>
        <p:spPr>
          <a:xfrm xmlns:a="http://schemas.openxmlformats.org/drawingml/2006/main">
            <a:off x="685800" y="43053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0">
                <a:solidFill>
                  <a:srgbClr val="BDCEC6"/>
                </a:solidFill>
                <a:latin typeface="Calibri"/>
                <a:ea typeface="Calibri"/>
                <a:cs typeface="Calibri"/>
              </a:defRPr>
            </a:defPPr>
          </a:lstStyle>
          <a:p xmlns:a="http://schemas.openxmlformats.org/drawingml/2006/main">
            <a:pPr algn="l">
              <a:defRPr sz="2400" b="0">
                <a:solidFill>
                  <a:srgbClr val="BDCEC6"/>
                </a:solidFill>
                <a:latin typeface="Calibri"/>
                <a:ea typeface="Calibri"/>
                <a:cs typeface="Calibri"/>
              </a:defRPr>
            </a:pPr>
            <a:r>
              <a:rPr sz="2400" b="0">
                <a:solidFill>
                  <a:srgbClr val="BDCEC6"/>
                </a:solidFill>
                <a:latin typeface="Calibri"/>
                <a:ea typeface="Calibri"/>
                <a:cs typeface="Calibri"/>
              </a:rPr>
              <a:t>Diagnostic, indicateurs mensuels</a:t>
            </a:r>
          </a:p>
          <a:p xmlns:a="http://schemas.openxmlformats.org/drawingml/2006/main">
            <a:pPr algn="l">
              <a:defRPr sz="2400" b="0">
                <a:solidFill>
                  <a:srgbClr val="BDCEC6"/>
                </a:solidFill>
                <a:latin typeface="Calibri"/>
                <a:ea typeface="Calibri"/>
                <a:cs typeface="Calibri"/>
              </a:defRPr>
            </a:pPr>
            <a:r>
              <a:rPr sz="2400" b="0">
                <a:solidFill>
                  <a:srgbClr val="BDCEC6"/>
                </a:solidFill>
                <a:latin typeface="Calibri"/>
                <a:ea typeface="Calibri"/>
                <a:cs typeface="Calibri"/>
              </a:rPr>
              <a:t>et décision de publication</a:t>
            </a:r>
          </a:p>
        </p:txBody>
      </p:sp>
      <p:sp>
        <p:nvSpPr>
          <p:cNvPr id="6" name="Présentation du livrable">
            <a:extLst xmlns:a="http://schemas.openxmlformats.org/drawingml/2006/main">
              <a:ext uri="{FF2B5EF4-FFF2-40B4-BE49-F238E27FC236}">
                <a16:creationId xmlns:a16="http://schemas.microsoft.com/office/drawing/2014/main" id="{ECA73F1E-15E2-4775-868A-1BED9A5321E1}"/>
              </a:ext>
            </a:extLst>
          </p:cNvPr>
          <p:cNvSpPr>
            <a:spLocks xmlns:a="http://schemas.openxmlformats.org/drawingml/2006/main" noGrp="1"/>
          </p:cNvSpPr>
          <p:nvPr/>
        </p:nvSpPr>
        <p:spPr>
          <a:xfrm xmlns:a="http://schemas.openxmlformats.org/drawingml/2006/main">
            <a:off x="685800" y="57150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BDCEC6"/>
                </a:solidFill>
                <a:latin typeface="Calibri"/>
                <a:ea typeface="Calibri"/>
                <a:cs typeface="Calibri"/>
              </a:defRPr>
            </a:defPPr>
          </a:lstStyle>
          <a:p xmlns:a="http://schemas.openxmlformats.org/drawingml/2006/main">
            <a:pPr algn="l">
              <a:defRPr sz="1650" b="0">
                <a:solidFill>
                  <a:srgbClr val="BDCEC6"/>
                </a:solidFill>
                <a:latin typeface="Calibri"/>
                <a:ea typeface="Calibri"/>
                <a:cs typeface="Calibri"/>
              </a:defRPr>
            </a:pPr>
            <a:r>
              <a:rPr sz="1650" b="0">
                <a:solidFill>
                  <a:srgbClr val="BDCEC6"/>
                </a:solidFill>
                <a:latin typeface="Calibri"/>
                <a:ea typeface="Calibri"/>
                <a:cs typeface="Calibri"/>
              </a:rPr>
              <a:t>Présentation du livrable</a:t>
            </a:r>
          </a:p>
        </p:txBody>
      </p:sp>
    </p:spTree>
    <p:extLst>
      <p:ext uri="{BB962C8B-B14F-4D97-AF65-F5344CB8AC3E}">
        <p14:creationId xmlns:p14="http://schemas.microsoft.com/office/powerpoint/2010/main" val="19381497"/>
      </p:ext>
    </p:extLst>
  </p:cSld>
</p:sld>
</file>

<file path=ppt/slides/slide2.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1" name="Un indicateur mensuel fiable">
            <a:extLst xmlns:a="http://schemas.openxmlformats.org/drawingml/2006/main">
              <a:ext uri="{FF2B5EF4-FFF2-40B4-BE49-F238E27FC236}">
                <a16:creationId xmlns:a16="http://schemas.microsoft.com/office/drawing/2014/main" id="{2B0D1A7B-3D95-44C1-AC33-4054AEADDFF7}"/>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Un indicateur mensuel fiable</a:t>
            </a:r>
          </a:p>
        </p:txBody>
      </p:sp>
      <p:sp>
        <p:nvSpPr>
          <p:cNvPr id="2" name="Source : accident.ipynb, sections Diagnostic, Indicateur et déci">
            <a:extLst xmlns:a="http://schemas.openxmlformats.org/drawingml/2006/main">
              <a:ext uri="{FF2B5EF4-FFF2-40B4-BE49-F238E27FC236}">
                <a16:creationId xmlns:a16="http://schemas.microsoft.com/office/drawing/2014/main" id="{1DA7F86A-137D-4F5D-9EC0-1F9BB6498DB4}"/>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sections Diagnostic, Indicateur et décision</a:t>
            </a:r>
          </a:p>
        </p:txBody>
      </p:sp>
      <p:sp>
        <p:nvSpPr>
          <p:cNvPr id="3" name="02">
            <a:extLst xmlns:a="http://schemas.openxmlformats.org/drawingml/2006/main">
              <a:ext uri="{FF2B5EF4-FFF2-40B4-BE49-F238E27FC236}">
                <a16:creationId xmlns:a16="http://schemas.microsoft.com/office/drawing/2014/main" id="{F673663B-351F-4860-BBA6-54A2ABAF4B05}"/>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02</a:t>
            </a:r>
          </a:p>
        </p:txBody>
      </p:sp>
      <p:sp>
        <p:nvSpPr>
          <p:cNvPr id="4" name="Comment compter les accidents à partir de données contrôlées ?">
            <a:extLst xmlns:a="http://schemas.openxmlformats.org/drawingml/2006/main">
              <a:ext uri="{FF2B5EF4-FFF2-40B4-BE49-F238E27FC236}">
                <a16:creationId xmlns:a16="http://schemas.microsoft.com/office/drawing/2014/main" id="{BBA10A26-D9A5-4959-B73F-90C58C2CDB58}"/>
              </a:ext>
            </a:extLst>
          </p:cNvPr>
          <p:cNvSpPr>
            <a:spLocks xmlns:a="http://schemas.openxmlformats.org/drawingml/2006/main" noGrp="1"/>
          </p:cNvSpPr>
          <p:nvPr/>
        </p:nvSpPr>
        <p:spPr>
          <a:xfrm xmlns:a="http://schemas.openxmlformats.org/drawingml/2006/main">
            <a:off x="685800" y="16097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700" b="1">
                <a:solidFill>
                  <a:srgbClr val="163E39"/>
                </a:solidFill>
                <a:latin typeface="Calibri"/>
                <a:ea typeface="Calibri"/>
                <a:cs typeface="Calibri"/>
              </a:defRPr>
            </a:defPPr>
          </a:lstStyle>
          <a:p xmlns:a="http://schemas.openxmlformats.org/drawingml/2006/main">
            <a:pPr algn="l">
              <a:defRPr sz="2700" b="1">
                <a:solidFill>
                  <a:srgbClr val="163E39"/>
                </a:solidFill>
                <a:latin typeface="Calibri"/>
                <a:ea typeface="Calibri"/>
                <a:cs typeface="Calibri"/>
              </a:defRPr>
            </a:pPr>
            <a:r>
              <a:rPr sz="2700" b="1">
                <a:solidFill>
                  <a:srgbClr val="163E39"/>
                </a:solidFill>
                <a:latin typeface="Calibri"/>
                <a:ea typeface="Calibri"/>
                <a:cs typeface="Calibri"/>
              </a:rPr>
              <a:t>Comment compter les accidents à partir de données contrôlées ?</a:t>
            </a:r>
          </a:p>
        </p:txBody>
      </p:sp>
      <p:sp>
        <p:nvSpPr>
          <p:cNvPr id="5" name="INDICATEUR PRINCIPAL">
            <a:extLst xmlns:a="http://schemas.openxmlformats.org/drawingml/2006/main">
              <a:ext uri="{FF2B5EF4-FFF2-40B4-BE49-F238E27FC236}">
                <a16:creationId xmlns:a16="http://schemas.microsoft.com/office/drawing/2014/main" id="{8123D657-C587-4777-BAAB-8A6C208C7001}"/>
              </a:ext>
            </a:extLst>
          </p:cNvPr>
          <p:cNvSpPr>
            <a:spLocks xmlns:a="http://schemas.openxmlformats.org/drawingml/2006/main" noGrp="1"/>
          </p:cNvSpPr>
          <p:nvPr/>
        </p:nvSpPr>
        <p:spPr>
          <a:xfrm xmlns:a="http://schemas.openxmlformats.org/drawingml/2006/main">
            <a:off x="685800" y="29337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1">
                <a:solidFill>
                  <a:srgbClr val="237D70"/>
                </a:solidFill>
                <a:latin typeface="Calibri"/>
                <a:ea typeface="Calibri"/>
                <a:cs typeface="Calibri"/>
              </a:defRPr>
            </a:defPPr>
          </a:lstStyle>
          <a:p xmlns:a="http://schemas.openxmlformats.org/drawingml/2006/main">
            <a:pPr algn="l">
              <a:defRPr sz="1725" b="1">
                <a:solidFill>
                  <a:srgbClr val="237D70"/>
                </a:solidFill>
                <a:latin typeface="Calibri"/>
                <a:ea typeface="Calibri"/>
                <a:cs typeface="Calibri"/>
              </a:defRPr>
            </a:pPr>
            <a:r>
              <a:rPr sz="1725" b="1">
                <a:solidFill>
                  <a:srgbClr val="237D70"/>
                </a:solidFill>
                <a:latin typeface="Calibri"/>
                <a:ea typeface="Calibri"/>
                <a:cs typeface="Calibri"/>
              </a:rPr>
              <a:t>INDICATEUR PRINCIPAL</a:t>
            </a:r>
          </a:p>
        </p:txBody>
      </p:sp>
      <p:sp>
        <p:nvSpPr>
          <p:cNvPr id="6" name="Nombre mensuel&#10;d’accidents éligibles">
            <a:extLst xmlns:a="http://schemas.openxmlformats.org/drawingml/2006/main">
              <a:ext uri="{FF2B5EF4-FFF2-40B4-BE49-F238E27FC236}">
                <a16:creationId xmlns:a16="http://schemas.microsoft.com/office/drawing/2014/main" id="{4EB2F8F6-26F2-40D4-85A4-B45F0ACD5C4A}"/>
              </a:ext>
            </a:extLst>
          </p:cNvPr>
          <p:cNvSpPr>
            <a:spLocks xmlns:a="http://schemas.openxmlformats.org/drawingml/2006/main" noGrp="1"/>
          </p:cNvSpPr>
          <p:nvPr/>
        </p:nvSpPr>
        <p:spPr>
          <a:xfrm xmlns:a="http://schemas.openxmlformats.org/drawingml/2006/main">
            <a:off x="685800" y="34766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700" b="1">
                <a:solidFill>
                  <a:srgbClr val="163E39"/>
                </a:solidFill>
                <a:latin typeface="Calibri"/>
                <a:ea typeface="Calibri"/>
                <a:cs typeface="Calibri"/>
              </a:defRPr>
            </a:defPPr>
          </a:lstStyle>
          <a:p xmlns:a="http://schemas.openxmlformats.org/drawingml/2006/main">
            <a:pPr algn="l">
              <a:defRPr sz="2700" b="1">
                <a:solidFill>
                  <a:srgbClr val="163E39"/>
                </a:solidFill>
                <a:latin typeface="Calibri"/>
                <a:ea typeface="Calibri"/>
                <a:cs typeface="Calibri"/>
              </a:defRPr>
            </a:pPr>
            <a:r>
              <a:rPr sz="2700" b="1">
                <a:solidFill>
                  <a:srgbClr val="163E39"/>
                </a:solidFill>
                <a:latin typeface="Calibri"/>
                <a:ea typeface="Calibri"/>
                <a:cs typeface="Calibri"/>
              </a:rPr>
              <a:t>Nombre mensuel</a:t>
            </a:r>
          </a:p>
          <a:p xmlns:a="http://schemas.openxmlformats.org/drawingml/2006/main">
            <a:pPr algn="l">
              <a:defRPr sz="2700" b="1">
                <a:solidFill>
                  <a:srgbClr val="163E39"/>
                </a:solidFill>
                <a:latin typeface="Calibri"/>
                <a:ea typeface="Calibri"/>
                <a:cs typeface="Calibri"/>
              </a:defRPr>
            </a:pPr>
            <a:r>
              <a:rPr sz="2700" b="1">
                <a:solidFill>
                  <a:srgbClr val="163E39"/>
                </a:solidFill>
                <a:latin typeface="Calibri"/>
                <a:ea typeface="Calibri"/>
                <a:cs typeface="Calibri"/>
              </a:rPr>
              <a:t>d’accidents éligibles</a:t>
            </a:r>
          </a:p>
        </p:txBody>
      </p:sp>
      <p:sp>
        <p:nvSpPr>
          <p:cNvPr id="7" name="Un accident correspond à une clé Num_Acc.">
            <a:extLst xmlns:a="http://schemas.openxmlformats.org/drawingml/2006/main">
              <a:ext uri="{FF2B5EF4-FFF2-40B4-BE49-F238E27FC236}">
                <a16:creationId xmlns:a16="http://schemas.microsoft.com/office/drawing/2014/main" id="{54C0429F-9806-4C3E-AA6C-4A23999B2EC8}"/>
              </a:ext>
            </a:extLst>
          </p:cNvPr>
          <p:cNvSpPr>
            <a:spLocks xmlns:a="http://schemas.openxmlformats.org/drawingml/2006/main" noGrp="1"/>
          </p:cNvSpPr>
          <p:nvPr/>
        </p:nvSpPr>
        <p:spPr>
          <a:xfrm xmlns:a="http://schemas.openxmlformats.org/drawingml/2006/main">
            <a:off x="685800" y="4762500"/>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61756F"/>
                </a:solidFill>
                <a:latin typeface="Calibri"/>
                <a:ea typeface="Calibri"/>
                <a:cs typeface="Calibri"/>
              </a:defRPr>
            </a:defPPr>
          </a:lstStyle>
          <a:p xmlns:a="http://schemas.openxmlformats.org/drawingml/2006/main">
            <a:pPr algn="l">
              <a:defRPr sz="1950" b="0">
                <a:solidFill>
                  <a:srgbClr val="61756F"/>
                </a:solidFill>
                <a:latin typeface="Calibri"/>
                <a:ea typeface="Calibri"/>
                <a:cs typeface="Calibri"/>
              </a:defRPr>
            </a:pPr>
            <a:r>
              <a:rPr sz="1950" b="0">
                <a:solidFill>
                  <a:srgbClr val="61756F"/>
                </a:solidFill>
                <a:latin typeface="Calibri"/>
                <a:ea typeface="Calibri"/>
                <a:cs typeface="Calibri"/>
              </a:rPr>
              <a:t>Un accident correspond à une clé Num_Acc.</a:t>
            </a:r>
          </a:p>
        </p:txBody>
      </p:sp>
      <p:sp>
        <p:nvSpPr>
          <p:cNvPr id="8" name="INDICATEUR COMPLÉMENTAIRE">
            <a:extLst xmlns:a="http://schemas.openxmlformats.org/drawingml/2006/main">
              <a:ext uri="{FF2B5EF4-FFF2-40B4-BE49-F238E27FC236}">
                <a16:creationId xmlns:a16="http://schemas.microsoft.com/office/drawing/2014/main" id="{CAC0082D-9378-43BE-AD5F-3C6A4032135A}"/>
              </a:ext>
            </a:extLst>
          </p:cNvPr>
          <p:cNvSpPr>
            <a:spLocks xmlns:a="http://schemas.openxmlformats.org/drawingml/2006/main" noGrp="1"/>
          </p:cNvSpPr>
          <p:nvPr/>
        </p:nvSpPr>
        <p:spPr>
          <a:xfrm xmlns:a="http://schemas.openxmlformats.org/drawingml/2006/main">
            <a:off x="6572250" y="29337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1">
                <a:solidFill>
                  <a:srgbClr val="C1663F"/>
                </a:solidFill>
                <a:latin typeface="Calibri"/>
                <a:ea typeface="Calibri"/>
                <a:cs typeface="Calibri"/>
              </a:defRPr>
            </a:defPPr>
          </a:lstStyle>
          <a:p xmlns:a="http://schemas.openxmlformats.org/drawingml/2006/main">
            <a:pPr algn="l">
              <a:defRPr sz="1725" b="1">
                <a:solidFill>
                  <a:srgbClr val="C1663F"/>
                </a:solidFill>
                <a:latin typeface="Calibri"/>
                <a:ea typeface="Calibri"/>
                <a:cs typeface="Calibri"/>
              </a:defRPr>
            </a:pPr>
            <a:r>
              <a:rPr sz="1725" b="1">
                <a:solidFill>
                  <a:srgbClr val="C1663F"/>
                </a:solidFill>
                <a:latin typeface="Calibri"/>
                <a:ea typeface="Calibri"/>
                <a:cs typeface="Calibri"/>
              </a:rPr>
              <a:t>INDICATEUR COMPLÉMENTAIRE</a:t>
            </a:r>
          </a:p>
        </p:txBody>
      </p:sp>
      <p:sp>
        <p:nvSpPr>
          <p:cNvPr id="9" name="Accidents avec&#10;au moins un tué">
            <a:extLst xmlns:a="http://schemas.openxmlformats.org/drawingml/2006/main">
              <a:ext uri="{FF2B5EF4-FFF2-40B4-BE49-F238E27FC236}">
                <a16:creationId xmlns:a16="http://schemas.microsoft.com/office/drawing/2014/main" id="{51CCC504-F923-48E6-9BCC-AD30D21CED60}"/>
              </a:ext>
            </a:extLst>
          </p:cNvPr>
          <p:cNvSpPr>
            <a:spLocks xmlns:a="http://schemas.openxmlformats.org/drawingml/2006/main" noGrp="1"/>
          </p:cNvSpPr>
          <p:nvPr/>
        </p:nvSpPr>
        <p:spPr>
          <a:xfrm xmlns:a="http://schemas.openxmlformats.org/drawingml/2006/main">
            <a:off x="6572250" y="34766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700" b="1">
                <a:solidFill>
                  <a:srgbClr val="163E39"/>
                </a:solidFill>
                <a:latin typeface="Calibri"/>
                <a:ea typeface="Calibri"/>
                <a:cs typeface="Calibri"/>
              </a:defRPr>
            </a:defPPr>
          </a:lstStyle>
          <a:p xmlns:a="http://schemas.openxmlformats.org/drawingml/2006/main">
            <a:pPr algn="l">
              <a:defRPr sz="2700" b="1">
                <a:solidFill>
                  <a:srgbClr val="163E39"/>
                </a:solidFill>
                <a:latin typeface="Calibri"/>
                <a:ea typeface="Calibri"/>
                <a:cs typeface="Calibri"/>
              </a:defRPr>
            </a:pPr>
            <a:r>
              <a:rPr sz="2700" b="1">
                <a:solidFill>
                  <a:srgbClr val="163E39"/>
                </a:solidFill>
                <a:latin typeface="Calibri"/>
                <a:ea typeface="Calibri"/>
                <a:cs typeface="Calibri"/>
              </a:rPr>
              <a:t>Accidents avec</a:t>
            </a:r>
          </a:p>
          <a:p xmlns:a="http://schemas.openxmlformats.org/drawingml/2006/main">
            <a:pPr algn="l">
              <a:defRPr sz="2700" b="1">
                <a:solidFill>
                  <a:srgbClr val="163E39"/>
                </a:solidFill>
                <a:latin typeface="Calibri"/>
                <a:ea typeface="Calibri"/>
                <a:cs typeface="Calibri"/>
              </a:defRPr>
            </a:pPr>
            <a:r>
              <a:rPr sz="2700" b="1">
                <a:solidFill>
                  <a:srgbClr val="163E39"/>
                </a:solidFill>
                <a:latin typeface="Calibri"/>
                <a:ea typeface="Calibri"/>
                <a:cs typeface="Calibri"/>
              </a:rPr>
              <a:t>au moins un tué</a:t>
            </a:r>
          </a:p>
        </p:txBody>
      </p:sp>
      <p:sp>
        <p:nvSpPr>
          <p:cNvPr id="10" name="Une présence de grav = 2 suffit à compter l’accident.">
            <a:extLst xmlns:a="http://schemas.openxmlformats.org/drawingml/2006/main">
              <a:ext uri="{FF2B5EF4-FFF2-40B4-BE49-F238E27FC236}">
                <a16:creationId xmlns:a16="http://schemas.microsoft.com/office/drawing/2014/main" id="{43DA8856-12B9-4603-BD8F-226525D7E416}"/>
              </a:ext>
            </a:extLst>
          </p:cNvPr>
          <p:cNvSpPr>
            <a:spLocks xmlns:a="http://schemas.openxmlformats.org/drawingml/2006/main" noGrp="1"/>
          </p:cNvSpPr>
          <p:nvPr/>
        </p:nvSpPr>
        <p:spPr>
          <a:xfrm xmlns:a="http://schemas.openxmlformats.org/drawingml/2006/main">
            <a:off x="6572250" y="476250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61756F"/>
                </a:solidFill>
                <a:latin typeface="Calibri"/>
                <a:ea typeface="Calibri"/>
                <a:cs typeface="Calibri"/>
              </a:defRPr>
            </a:defPPr>
          </a:lstStyle>
          <a:p xmlns:a="http://schemas.openxmlformats.org/drawingml/2006/main">
            <a:pPr algn="l">
              <a:defRPr sz="1950" b="0">
                <a:solidFill>
                  <a:srgbClr val="61756F"/>
                </a:solidFill>
                <a:latin typeface="Calibri"/>
                <a:ea typeface="Calibri"/>
                <a:cs typeface="Calibri"/>
              </a:defRPr>
            </a:pPr>
            <a:r>
              <a:rPr sz="1950" b="0">
                <a:solidFill>
                  <a:srgbClr val="61756F"/>
                </a:solidFill>
                <a:latin typeface="Calibri"/>
                <a:ea typeface="Calibri"/>
                <a:cs typeface="Calibri"/>
              </a:rPr>
              <a:t>Une présence de grav = 2 suffit à compter l’accident.</a:t>
            </a:r>
          </a:p>
        </p:txBody>
      </p:sp>
    </p:spTree>
    <p:extLst>
      <p:ext uri="{BB962C8B-B14F-4D97-AF65-F5344CB8AC3E}">
        <p14:creationId xmlns:p14="http://schemas.microsoft.com/office/powerpoint/2010/main" val="98961913"/>
      </p:ext>
    </p:extLst>
  </p:cSld>
</p:sld>
</file>

<file path=ppt/slides/slide3.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7" name="Huit fichiers pour deux années">
            <a:extLst xmlns:a="http://schemas.openxmlformats.org/drawingml/2006/main">
              <a:ext uri="{FF2B5EF4-FFF2-40B4-BE49-F238E27FC236}">
                <a16:creationId xmlns:a16="http://schemas.microsoft.com/office/drawing/2014/main" id="{F664C100-9CB7-493C-8AD8-0C92E90B4097}"/>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Huit fichiers pour deux années</a:t>
            </a:r>
          </a:p>
        </p:txBody>
      </p:sp>
      <p:sp>
        <p:nvSpPr>
          <p:cNvPr id="2" name="Source : accident.ipynb, chargement et diagnostic des tables">
            <a:extLst xmlns:a="http://schemas.openxmlformats.org/drawingml/2006/main">
              <a:ext uri="{FF2B5EF4-FFF2-40B4-BE49-F238E27FC236}">
                <a16:creationId xmlns:a16="http://schemas.microsoft.com/office/drawing/2014/main" id="{8EB1310F-9734-418E-8363-149FDEBD0A4A}"/>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chargement et diagnostic des tables</a:t>
            </a:r>
          </a:p>
        </p:txBody>
      </p:sp>
      <p:sp>
        <p:nvSpPr>
          <p:cNvPr id="3" name="03">
            <a:extLst xmlns:a="http://schemas.openxmlformats.org/drawingml/2006/main">
              <a:ext uri="{FF2B5EF4-FFF2-40B4-BE49-F238E27FC236}">
                <a16:creationId xmlns:a16="http://schemas.microsoft.com/office/drawing/2014/main" id="{773FF0AE-4AAF-4B29-BEBF-40FA83142C82}"/>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03</a:t>
            </a:r>
          </a:p>
        </p:txBody>
      </p:sp>
      <p:graphicFrame>
        <p:nvGraphicFramePr>
          <p:cNvPr id="4" name="">
            <a:extLst xmlns:a="http://schemas.openxmlformats.org/drawingml/2006/main">
              <a:ext uri="{FF2B5EF4-FFF2-40B4-BE49-F238E27FC236}">
                <a16:creationId xmlns:a16="http://schemas.microsoft.com/office/drawing/2014/main" id="{383CEF66-FF1B-4136-ACFC-A976CDA7901D}"/>
              </a:ext>
            </a:extLst>
          </p:cNvPr>
          <p:cNvGraphicFramePr/>
          <p:nvPr/>
        </p:nvGraphicFramePr>
        <p:xfrm>
          <a:off xmlns:a="http://schemas.openxmlformats.org/drawingml/2006/main" x="685800" y="1809750"/>
          <a:ext xmlns:a="http://schemas.openxmlformats.org/drawingml/2006/main" cx="10820400" cy="3238500"/>
        </p:xfrm>
        <a:graphic xmlns:a="http://schemas.openxmlformats.org/drawingml/2006/main">
          <a:graphicData uri="http://schemas.openxmlformats.org/drawingml/2006/table">
            <a:tbl>
              <a:tblPr/>
              <a:tblGrid>
                <a:gridCol w="2000250"/>
                <a:gridCol w="4533900"/>
                <a:gridCol w="2143125"/>
                <a:gridCol w="2143125"/>
              </a:tblGrid>
              <a:tr h="647700">
                <a:tc>
                  <a:txBody>
                    <a:bodyPr/>
                    <a:lstStyle/>
                    <a:p>
                      <a:r>
                        <a:rPr sz="1950" b="1">
                          <a:solidFill>
                            <a:srgbClr val="FFFFFF"/>
                          </a:solidFill>
                          <a:latin typeface="Calibri"/>
                          <a:ea typeface="Calibri"/>
                          <a:cs typeface="Calibri"/>
                        </a:rPr>
                        <a:t>Table</a:t>
                      </a:r>
                    </a:p>
                  </a:txBody>
                  <a:tcPr marL="133350" marR="133350" marT="95250" marB="95250" anchor="ctr">
                    <a:lnL w="19050">
                      <a:solidFill>
                        <a:srgbClr val="F5F4EE"/>
                      </a:solidFill>
                    </a:lnL>
                    <a:lnR w="19050">
                      <a:solidFill>
                        <a:srgbClr val="F5F4EE"/>
                      </a:solidFill>
                    </a:lnR>
                    <a:lnT w="19050">
                      <a:solidFill>
                        <a:srgbClr val="F5F4EE"/>
                      </a:solidFill>
                    </a:lnT>
                    <a:lnB w="19050">
                      <a:solidFill>
                        <a:srgbClr val="F5F4EE"/>
                      </a:solidFill>
                    </a:lnB>
                    <a:solidFill>
                      <a:srgbClr val="163E39"/>
                    </a:solidFill>
                  </a:tcPr>
                </a:tc>
                <a:tc>
                  <a:txBody>
                    <a:bodyPr/>
                    <a:lstStyle/>
                    <a:p>
                      <a:r>
                        <a:rPr sz="1950" b="1">
                          <a:solidFill>
                            <a:srgbClr val="FFFFFF"/>
                          </a:solidFill>
                          <a:latin typeface="Calibri"/>
                          <a:ea typeface="Calibri"/>
                          <a:cs typeface="Calibri"/>
                        </a:rPr>
                        <a:t>Une ligne représente…</a:t>
                      </a:r>
                    </a:p>
                  </a:txBody>
                  <a:tcPr marL="133350" marR="133350" marT="95250" marB="95250" anchor="ctr">
                    <a:lnR w="19050">
                      <a:solidFill>
                        <a:srgbClr val="F5F4EE"/>
                      </a:solidFill>
                    </a:lnR>
                    <a:lnT w="19050">
                      <a:solidFill>
                        <a:srgbClr val="F5F4EE"/>
                      </a:solidFill>
                    </a:lnT>
                    <a:lnB w="19050">
                      <a:solidFill>
                        <a:srgbClr val="F5F4EE"/>
                      </a:solidFill>
                    </a:lnB>
                    <a:solidFill>
                      <a:srgbClr val="163E39"/>
                    </a:solidFill>
                  </a:tcPr>
                </a:tc>
                <a:tc>
                  <a:txBody>
                    <a:bodyPr/>
                    <a:lstStyle/>
                    <a:p>
                      <a:r>
                        <a:rPr sz="1950" b="1">
                          <a:solidFill>
                            <a:srgbClr val="FFFFFF"/>
                          </a:solidFill>
                          <a:latin typeface="Calibri"/>
                          <a:ea typeface="Calibri"/>
                          <a:cs typeface="Calibri"/>
                        </a:rPr>
                        <a:t>2023</a:t>
                      </a:r>
                    </a:p>
                  </a:txBody>
                  <a:tcPr marL="133350" marR="133350" marT="95250" marB="95250" anchor="ctr">
                    <a:lnR w="19050">
                      <a:solidFill>
                        <a:srgbClr val="F5F4EE"/>
                      </a:solidFill>
                    </a:lnR>
                    <a:lnT w="19050">
                      <a:solidFill>
                        <a:srgbClr val="F5F4EE"/>
                      </a:solidFill>
                    </a:lnT>
                    <a:lnB w="19050">
                      <a:solidFill>
                        <a:srgbClr val="F5F4EE"/>
                      </a:solidFill>
                    </a:lnB>
                    <a:solidFill>
                      <a:srgbClr val="163E39"/>
                    </a:solidFill>
                  </a:tcPr>
                </a:tc>
                <a:tc>
                  <a:txBody>
                    <a:bodyPr/>
                    <a:lstStyle/>
                    <a:p>
                      <a:r>
                        <a:rPr sz="1950" b="1">
                          <a:solidFill>
                            <a:srgbClr val="FFFFFF"/>
                          </a:solidFill>
                          <a:latin typeface="Calibri"/>
                          <a:ea typeface="Calibri"/>
                          <a:cs typeface="Calibri"/>
                        </a:rPr>
                        <a:t>2024</a:t>
                      </a:r>
                    </a:p>
                  </a:txBody>
                  <a:tcPr marL="133350" marR="133350" marT="95250" marB="95250" anchor="ctr">
                    <a:lnR w="19050">
                      <a:solidFill>
                        <a:srgbClr val="F5F4EE"/>
                      </a:solidFill>
                    </a:lnR>
                    <a:lnT w="19050">
                      <a:solidFill>
                        <a:srgbClr val="F5F4EE"/>
                      </a:solidFill>
                    </a:lnT>
                    <a:lnB w="19050">
                      <a:solidFill>
                        <a:srgbClr val="F5F4EE"/>
                      </a:solidFill>
                    </a:lnB>
                    <a:solidFill>
                      <a:srgbClr val="163E39"/>
                    </a:solidFill>
                  </a:tcPr>
                </a:tc>
              </a:tr>
              <a:tr h="647700">
                <a:tc>
                  <a:txBody>
                    <a:bodyPr/>
                    <a:lstStyle/>
                    <a:p>
                      <a:r>
                        <a:rPr sz="1950" b="0">
                          <a:solidFill>
                            <a:srgbClr val="163E39"/>
                          </a:solidFill>
                          <a:latin typeface="Calibri"/>
                          <a:ea typeface="Calibri"/>
                          <a:cs typeface="Calibri"/>
                        </a:rPr>
                        <a:t>caract</a:t>
                      </a:r>
                    </a:p>
                  </a:txBody>
                  <a:tcPr marL="133350" marR="133350" marT="95250" marB="95250"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950" b="0">
                          <a:solidFill>
                            <a:srgbClr val="163E39"/>
                          </a:solidFill>
                          <a:latin typeface="Calibri"/>
                          <a:ea typeface="Calibri"/>
                          <a:cs typeface="Calibri"/>
                        </a:rPr>
                        <a:t>un accident</a:t>
                      </a:r>
                    </a:p>
                  </a:txBody>
                  <a:tcPr marL="133350" marR="133350" marT="95250" marB="95250" anchor="ctr">
                    <a:lnR w="19050">
                      <a:solidFill>
                        <a:srgbClr val="F5F4EE"/>
                      </a:solidFill>
                    </a:lnR>
                    <a:lnB w="19050">
                      <a:solidFill>
                        <a:srgbClr val="F5F4EE"/>
                      </a:solidFill>
                    </a:lnB>
                    <a:solidFill>
                      <a:srgbClr val="F5F4EE"/>
                    </a:solidFill>
                  </a:tcPr>
                </a:tc>
                <a:tc>
                  <a:txBody>
                    <a:bodyPr/>
                    <a:lstStyle/>
                    <a:p>
                      <a:r>
                        <a:rPr sz="1950" b="0">
                          <a:solidFill>
                            <a:srgbClr val="163E39"/>
                          </a:solidFill>
                          <a:latin typeface="Calibri"/>
                          <a:ea typeface="Calibri"/>
                          <a:cs typeface="Calibri"/>
                        </a:rPr>
                        <a:t>54 822</a:t>
                      </a:r>
                    </a:p>
                  </a:txBody>
                  <a:tcPr marL="133350" marR="133350" marT="95250" marB="95250" anchor="ctr">
                    <a:lnR w="19050">
                      <a:solidFill>
                        <a:srgbClr val="F5F4EE"/>
                      </a:solidFill>
                    </a:lnR>
                    <a:lnB w="19050">
                      <a:solidFill>
                        <a:srgbClr val="F5F4EE"/>
                      </a:solidFill>
                    </a:lnB>
                    <a:solidFill>
                      <a:srgbClr val="F5F4EE"/>
                    </a:solidFill>
                  </a:tcPr>
                </a:tc>
                <a:tc>
                  <a:txBody>
                    <a:bodyPr/>
                    <a:lstStyle/>
                    <a:p>
                      <a:r>
                        <a:rPr sz="1950" b="0">
                          <a:solidFill>
                            <a:srgbClr val="163E39"/>
                          </a:solidFill>
                          <a:latin typeface="Calibri"/>
                          <a:ea typeface="Calibri"/>
                          <a:cs typeface="Calibri"/>
                        </a:rPr>
                        <a:t>54 402</a:t>
                      </a:r>
                    </a:p>
                  </a:txBody>
                  <a:tcPr marL="133350" marR="133350" marT="95250" marB="95250" anchor="ctr">
                    <a:lnR w="19050">
                      <a:solidFill>
                        <a:srgbClr val="F5F4EE"/>
                      </a:solidFill>
                    </a:lnR>
                    <a:lnB w="19050">
                      <a:solidFill>
                        <a:srgbClr val="F5F4EE"/>
                      </a:solidFill>
                    </a:lnB>
                    <a:solidFill>
                      <a:srgbClr val="F5F4EE"/>
                    </a:solidFill>
                  </a:tcPr>
                </a:tc>
              </a:tr>
              <a:tr h="647700">
                <a:tc>
                  <a:txBody>
                    <a:bodyPr/>
                    <a:lstStyle/>
                    <a:p>
                      <a:r>
                        <a:rPr sz="1950" b="0">
                          <a:solidFill>
                            <a:srgbClr val="163E39"/>
                          </a:solidFill>
                          <a:latin typeface="Calibri"/>
                          <a:ea typeface="Calibri"/>
                          <a:cs typeface="Calibri"/>
                        </a:rPr>
                        <a:t>lieux</a:t>
                      </a:r>
                    </a:p>
                  </a:txBody>
                  <a:tcPr marL="133350" marR="133350" marT="95250" marB="95250"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950" b="0">
                          <a:solidFill>
                            <a:srgbClr val="163E39"/>
                          </a:solidFill>
                          <a:latin typeface="Calibri"/>
                          <a:ea typeface="Calibri"/>
                          <a:cs typeface="Calibri"/>
                        </a:rPr>
                        <a:t>un enregistrement de lieu</a:t>
                      </a:r>
                    </a:p>
                  </a:txBody>
                  <a:tcPr marL="133350" marR="133350" marT="95250" marB="95250" anchor="ctr">
                    <a:lnR w="19050">
                      <a:solidFill>
                        <a:srgbClr val="F5F4EE"/>
                      </a:solidFill>
                    </a:lnR>
                    <a:lnB w="19050">
                      <a:solidFill>
                        <a:srgbClr val="F5F4EE"/>
                      </a:solidFill>
                    </a:lnB>
                    <a:solidFill>
                      <a:srgbClr val="E7EEE7"/>
                    </a:solidFill>
                  </a:tcPr>
                </a:tc>
                <a:tc>
                  <a:txBody>
                    <a:bodyPr/>
                    <a:lstStyle/>
                    <a:p>
                      <a:r>
                        <a:rPr sz="1950" b="0">
                          <a:solidFill>
                            <a:srgbClr val="163E39"/>
                          </a:solidFill>
                          <a:latin typeface="Calibri"/>
                          <a:ea typeface="Calibri"/>
                          <a:cs typeface="Calibri"/>
                        </a:rPr>
                        <a:t>70 860</a:t>
                      </a:r>
                    </a:p>
                  </a:txBody>
                  <a:tcPr marL="133350" marR="133350" marT="95250" marB="95250" anchor="ctr">
                    <a:lnR w="19050">
                      <a:solidFill>
                        <a:srgbClr val="F5F4EE"/>
                      </a:solidFill>
                    </a:lnR>
                    <a:lnB w="19050">
                      <a:solidFill>
                        <a:srgbClr val="F5F4EE"/>
                      </a:solidFill>
                    </a:lnB>
                    <a:solidFill>
                      <a:srgbClr val="E7EEE7"/>
                    </a:solidFill>
                  </a:tcPr>
                </a:tc>
                <a:tc>
                  <a:txBody>
                    <a:bodyPr/>
                    <a:lstStyle/>
                    <a:p>
                      <a:r>
                        <a:rPr sz="1950" b="0">
                          <a:solidFill>
                            <a:srgbClr val="163E39"/>
                          </a:solidFill>
                          <a:latin typeface="Calibri"/>
                          <a:ea typeface="Calibri"/>
                          <a:cs typeface="Calibri"/>
                        </a:rPr>
                        <a:t>70 248</a:t>
                      </a:r>
                    </a:p>
                  </a:txBody>
                  <a:tcPr marL="133350" marR="133350" marT="95250" marB="95250" anchor="ctr">
                    <a:lnR w="19050">
                      <a:solidFill>
                        <a:srgbClr val="F5F4EE"/>
                      </a:solidFill>
                    </a:lnR>
                    <a:lnB w="19050">
                      <a:solidFill>
                        <a:srgbClr val="F5F4EE"/>
                      </a:solidFill>
                    </a:lnB>
                    <a:solidFill>
                      <a:srgbClr val="E7EEE7"/>
                    </a:solidFill>
                  </a:tcPr>
                </a:tc>
              </a:tr>
              <a:tr h="647700">
                <a:tc>
                  <a:txBody>
                    <a:bodyPr/>
                    <a:lstStyle/>
                    <a:p>
                      <a:r>
                        <a:rPr sz="1950" b="0">
                          <a:solidFill>
                            <a:srgbClr val="163E39"/>
                          </a:solidFill>
                          <a:latin typeface="Calibri"/>
                          <a:ea typeface="Calibri"/>
                          <a:cs typeface="Calibri"/>
                        </a:rPr>
                        <a:t>vehicules</a:t>
                      </a:r>
                    </a:p>
                  </a:txBody>
                  <a:tcPr marL="133350" marR="133350" marT="95250" marB="95250"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950" b="0">
                          <a:solidFill>
                            <a:srgbClr val="163E39"/>
                          </a:solidFill>
                          <a:latin typeface="Calibri"/>
                          <a:ea typeface="Calibri"/>
                          <a:cs typeface="Calibri"/>
                        </a:rPr>
                        <a:t>un véhicule</a:t>
                      </a:r>
                    </a:p>
                  </a:txBody>
                  <a:tcPr marL="133350" marR="133350" marT="95250" marB="95250" anchor="ctr">
                    <a:lnR w="19050">
                      <a:solidFill>
                        <a:srgbClr val="F5F4EE"/>
                      </a:solidFill>
                    </a:lnR>
                    <a:lnB w="19050">
                      <a:solidFill>
                        <a:srgbClr val="F5F4EE"/>
                      </a:solidFill>
                    </a:lnB>
                    <a:solidFill>
                      <a:srgbClr val="F5F4EE"/>
                    </a:solidFill>
                  </a:tcPr>
                </a:tc>
                <a:tc>
                  <a:txBody>
                    <a:bodyPr/>
                    <a:lstStyle/>
                    <a:p>
                      <a:r>
                        <a:rPr sz="1950" b="0">
                          <a:solidFill>
                            <a:srgbClr val="163E39"/>
                          </a:solidFill>
                          <a:latin typeface="Calibri"/>
                          <a:ea typeface="Calibri"/>
                          <a:cs typeface="Calibri"/>
                        </a:rPr>
                        <a:t>93 585</a:t>
                      </a:r>
                    </a:p>
                  </a:txBody>
                  <a:tcPr marL="133350" marR="133350" marT="95250" marB="95250" anchor="ctr">
                    <a:lnR w="19050">
                      <a:solidFill>
                        <a:srgbClr val="F5F4EE"/>
                      </a:solidFill>
                    </a:lnR>
                    <a:lnB w="19050">
                      <a:solidFill>
                        <a:srgbClr val="F5F4EE"/>
                      </a:solidFill>
                    </a:lnB>
                    <a:solidFill>
                      <a:srgbClr val="F5F4EE"/>
                    </a:solidFill>
                  </a:tcPr>
                </a:tc>
                <a:tc>
                  <a:txBody>
                    <a:bodyPr/>
                    <a:lstStyle/>
                    <a:p>
                      <a:r>
                        <a:rPr sz="1950" b="0">
                          <a:solidFill>
                            <a:srgbClr val="163E39"/>
                          </a:solidFill>
                          <a:latin typeface="Calibri"/>
                          <a:ea typeface="Calibri"/>
                          <a:cs typeface="Calibri"/>
                        </a:rPr>
                        <a:t>92 678</a:t>
                      </a:r>
                    </a:p>
                  </a:txBody>
                  <a:tcPr marL="133350" marR="133350" marT="95250" marB="95250" anchor="ctr">
                    <a:lnR w="19050">
                      <a:solidFill>
                        <a:srgbClr val="F5F4EE"/>
                      </a:solidFill>
                    </a:lnR>
                    <a:lnB w="19050">
                      <a:solidFill>
                        <a:srgbClr val="F5F4EE"/>
                      </a:solidFill>
                    </a:lnB>
                    <a:solidFill>
                      <a:srgbClr val="F5F4EE"/>
                    </a:solidFill>
                  </a:tcPr>
                </a:tc>
              </a:tr>
              <a:tr h="647700">
                <a:tc>
                  <a:txBody>
                    <a:bodyPr/>
                    <a:lstStyle/>
                    <a:p>
                      <a:r>
                        <a:rPr sz="1950" b="0">
                          <a:solidFill>
                            <a:srgbClr val="163E39"/>
                          </a:solidFill>
                          <a:latin typeface="Calibri"/>
                          <a:ea typeface="Calibri"/>
                          <a:cs typeface="Calibri"/>
                        </a:rPr>
                        <a:t>usagers</a:t>
                      </a:r>
                    </a:p>
                  </a:txBody>
                  <a:tcPr marL="133350" marR="133350" marT="95250" marB="95250"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950" b="0">
                          <a:solidFill>
                            <a:srgbClr val="163E39"/>
                          </a:solidFill>
                          <a:latin typeface="Calibri"/>
                          <a:ea typeface="Calibri"/>
                          <a:cs typeface="Calibri"/>
                        </a:rPr>
                        <a:t>un usager</a:t>
                      </a:r>
                    </a:p>
                  </a:txBody>
                  <a:tcPr marL="133350" marR="133350" marT="95250" marB="95250" anchor="ctr">
                    <a:lnR w="19050">
                      <a:solidFill>
                        <a:srgbClr val="F5F4EE"/>
                      </a:solidFill>
                    </a:lnR>
                    <a:lnB w="19050">
                      <a:solidFill>
                        <a:srgbClr val="F5F4EE"/>
                      </a:solidFill>
                    </a:lnB>
                    <a:solidFill>
                      <a:srgbClr val="E7EEE7"/>
                    </a:solidFill>
                  </a:tcPr>
                </a:tc>
                <a:tc>
                  <a:txBody>
                    <a:bodyPr/>
                    <a:lstStyle/>
                    <a:p>
                      <a:r>
                        <a:rPr sz="1950" b="0">
                          <a:solidFill>
                            <a:srgbClr val="163E39"/>
                          </a:solidFill>
                          <a:latin typeface="Calibri"/>
                          <a:ea typeface="Calibri"/>
                          <a:cs typeface="Calibri"/>
                        </a:rPr>
                        <a:t>125 789</a:t>
                      </a:r>
                    </a:p>
                  </a:txBody>
                  <a:tcPr marL="133350" marR="133350" marT="95250" marB="95250" anchor="ctr">
                    <a:lnR w="19050">
                      <a:solidFill>
                        <a:srgbClr val="F5F4EE"/>
                      </a:solidFill>
                    </a:lnR>
                    <a:lnB w="19050">
                      <a:solidFill>
                        <a:srgbClr val="F5F4EE"/>
                      </a:solidFill>
                    </a:lnB>
                    <a:solidFill>
                      <a:srgbClr val="E7EEE7"/>
                    </a:solidFill>
                  </a:tcPr>
                </a:tc>
                <a:tc>
                  <a:txBody>
                    <a:bodyPr/>
                    <a:lstStyle/>
                    <a:p>
                      <a:r>
                        <a:rPr sz="1950" b="0">
                          <a:solidFill>
                            <a:srgbClr val="163E39"/>
                          </a:solidFill>
                          <a:latin typeface="Calibri"/>
                          <a:ea typeface="Calibri"/>
                          <a:cs typeface="Calibri"/>
                        </a:rPr>
                        <a:t>125 187</a:t>
                      </a:r>
                    </a:p>
                  </a:txBody>
                  <a:tcPr marL="133350" marR="133350" marT="95250" marB="95250" anchor="ctr">
                    <a:lnR w="19050">
                      <a:solidFill>
                        <a:srgbClr val="F5F4EE"/>
                      </a:solidFill>
                    </a:lnR>
                    <a:lnB w="19050">
                      <a:solidFill>
                        <a:srgbClr val="F5F4EE"/>
                      </a:solidFill>
                    </a:lnB>
                    <a:solidFill>
                      <a:srgbClr val="E7EEE7"/>
                    </a:solidFill>
                  </a:tcPr>
                </a:tc>
              </a:tr>
            </a:tbl>
          </a:graphicData>
        </a:graphic>
      </p:graphicFrame>
      <p:sp>
        <p:nvSpPr>
          <p:cNvPr id="5" name="109 224 accidents au total">
            <a:extLst xmlns:a="http://schemas.openxmlformats.org/drawingml/2006/main">
              <a:ext uri="{FF2B5EF4-FFF2-40B4-BE49-F238E27FC236}">
                <a16:creationId xmlns:a16="http://schemas.microsoft.com/office/drawing/2014/main" id="{198696F3-EBBE-402A-AC39-4485A83F13D8}"/>
              </a:ext>
            </a:extLst>
          </p:cNvPr>
          <p:cNvSpPr>
            <a:spLocks xmlns:a="http://schemas.openxmlformats.org/drawingml/2006/main" noGrp="1"/>
          </p:cNvSpPr>
          <p:nvPr/>
        </p:nvSpPr>
        <p:spPr>
          <a:xfrm xmlns:a="http://schemas.openxmlformats.org/drawingml/2006/main">
            <a:off x="685800" y="5410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163E39"/>
                </a:solidFill>
                <a:latin typeface="Calibri"/>
                <a:ea typeface="Calibri"/>
                <a:cs typeface="Calibri"/>
              </a:defRPr>
            </a:defPPr>
          </a:lstStyle>
          <a:p xmlns:a="http://schemas.openxmlformats.org/drawingml/2006/main">
            <a:pPr algn="l">
              <a:defRPr sz="2550" b="1">
                <a:solidFill>
                  <a:srgbClr val="163E39"/>
                </a:solidFill>
                <a:latin typeface="Calibri"/>
                <a:ea typeface="Calibri"/>
                <a:cs typeface="Calibri"/>
              </a:defRPr>
            </a:pPr>
            <a:r>
              <a:rPr sz="2550" b="1">
                <a:solidFill>
                  <a:srgbClr val="163E39"/>
                </a:solidFill>
                <a:latin typeface="Calibri"/>
                <a:ea typeface="Calibri"/>
                <a:cs typeface="Calibri"/>
              </a:rPr>
              <a:t>109 224 accidents au total</a:t>
            </a:r>
          </a:p>
        </p:txBody>
      </p:sp>
      <p:sp>
        <p:nvSpPr>
          <p:cNvPr id="6" name="La clé Num_Acc relie les quatre tables. Les volumes de lignes di">
            <a:extLst xmlns:a="http://schemas.openxmlformats.org/drawingml/2006/main">
              <a:ext uri="{FF2B5EF4-FFF2-40B4-BE49-F238E27FC236}">
                <a16:creationId xmlns:a16="http://schemas.microsoft.com/office/drawing/2014/main" id="{46207EEF-E663-4269-AD2B-965F3F16B548}"/>
              </a:ext>
            </a:extLst>
          </p:cNvPr>
          <p:cNvSpPr>
            <a:spLocks xmlns:a="http://schemas.openxmlformats.org/drawingml/2006/main" noGrp="1"/>
          </p:cNvSpPr>
          <p:nvPr/>
        </p:nvSpPr>
        <p:spPr>
          <a:xfrm xmlns:a="http://schemas.openxmlformats.org/drawingml/2006/main">
            <a:off x="685800" y="58959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56F"/>
                </a:solidFill>
                <a:latin typeface="Calibri"/>
                <a:ea typeface="Calibri"/>
                <a:cs typeface="Calibri"/>
              </a:defRPr>
            </a:defPPr>
          </a:lstStyle>
          <a:p xmlns:a="http://schemas.openxmlformats.org/drawingml/2006/main">
            <a:pPr algn="l">
              <a:defRPr sz="1725" b="0">
                <a:solidFill>
                  <a:srgbClr val="61756F"/>
                </a:solidFill>
                <a:latin typeface="Calibri"/>
                <a:ea typeface="Calibri"/>
                <a:cs typeface="Calibri"/>
              </a:defRPr>
            </a:pPr>
            <a:r>
              <a:rPr sz="1725" b="0">
                <a:solidFill>
                  <a:srgbClr val="61756F"/>
                </a:solidFill>
                <a:latin typeface="Calibri"/>
                <a:ea typeface="Calibri"/>
                <a:cs typeface="Calibri"/>
              </a:rPr>
              <a:t>La clé Num_Acc relie les quatre tables. Les volumes de lignes diffèrent selon leur unité.</a:t>
            </a:r>
          </a:p>
        </p:txBody>
      </p:sp>
    </p:spTree>
    <p:extLst>
      <p:ext uri="{BB962C8B-B14F-4D97-AF65-F5344CB8AC3E}">
        <p14:creationId xmlns:p14="http://schemas.microsoft.com/office/powerpoint/2010/main" val="1256172187"/>
      </p:ext>
    </p:extLst>
  </p:cSld>
</p:sld>
</file>

<file path=ppt/slides/slide4.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9" name="118 gravités non renseignées en 2023">
            <a:extLst xmlns:a="http://schemas.openxmlformats.org/drawingml/2006/main">
              <a:ext uri="{FF2B5EF4-FFF2-40B4-BE49-F238E27FC236}">
                <a16:creationId xmlns:a16="http://schemas.microsoft.com/office/drawing/2014/main" id="{D929AB37-B002-4CF9-9CF4-257B0C74981A}"/>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118 gravités non renseignées en 2023</a:t>
            </a:r>
          </a:p>
        </p:txBody>
      </p:sp>
      <p:sp>
        <p:nvSpPr>
          <p:cNvPr id="2" name="Source : accident.ipynb, profil des champs critiques et journal ">
            <a:extLst xmlns:a="http://schemas.openxmlformats.org/drawingml/2006/main">
              <a:ext uri="{FF2B5EF4-FFF2-40B4-BE49-F238E27FC236}">
                <a16:creationId xmlns:a16="http://schemas.microsoft.com/office/drawing/2014/main" id="{269DAD59-656F-4E41-BB25-3DA7EE866F85}"/>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profil des champs critiques et journal des anomalies</a:t>
            </a:r>
          </a:p>
        </p:txBody>
      </p:sp>
      <p:sp>
        <p:nvSpPr>
          <p:cNvPr id="3" name="04">
            <a:extLst xmlns:a="http://schemas.openxmlformats.org/drawingml/2006/main">
              <a:ext uri="{FF2B5EF4-FFF2-40B4-BE49-F238E27FC236}">
                <a16:creationId xmlns:a16="http://schemas.microsoft.com/office/drawing/2014/main" id="{B6B4FFE5-C07B-40D0-BD14-14F0025E4BA4}"/>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04</a:t>
            </a:r>
          </a:p>
        </p:txBody>
      </p:sp>
      <p:sp>
        <p:nvSpPr>
          <p:cNvPr id="4" name="118">
            <a:extLst xmlns:a="http://schemas.openxmlformats.org/drawingml/2006/main">
              <a:ext uri="{FF2B5EF4-FFF2-40B4-BE49-F238E27FC236}">
                <a16:creationId xmlns:a16="http://schemas.microsoft.com/office/drawing/2014/main" id="{522CBFF7-49D6-4C80-9022-FDC4D91BFB19}"/>
              </a:ext>
            </a:extLst>
          </p:cNvPr>
          <p:cNvSpPr>
            <a:spLocks xmlns:a="http://schemas.openxmlformats.org/drawingml/2006/main" noGrp="1"/>
          </p:cNvSpPr>
          <p:nvPr/>
        </p:nvSpPr>
        <p:spPr>
          <a:xfrm xmlns:a="http://schemas.openxmlformats.org/drawingml/2006/main">
            <a:off x="685800" y="1762125"/>
            <a:ext cx="457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7500" b="1">
                <a:solidFill>
                  <a:srgbClr val="C1663F"/>
                </a:solidFill>
                <a:latin typeface="Calibri"/>
                <a:ea typeface="Calibri"/>
                <a:cs typeface="Calibri"/>
              </a:defRPr>
            </a:defPPr>
          </a:lstStyle>
          <a:p xmlns:a="http://schemas.openxmlformats.org/drawingml/2006/main">
            <a:pPr algn="l">
              <a:defRPr sz="7500" b="1">
                <a:solidFill>
                  <a:srgbClr val="C1663F"/>
                </a:solidFill>
                <a:latin typeface="Calibri"/>
                <a:ea typeface="Calibri"/>
                <a:cs typeface="Calibri"/>
              </a:defRPr>
            </a:pPr>
            <a:r>
              <a:rPr sz="7500" b="1">
                <a:solidFill>
                  <a:srgbClr val="C1663F"/>
                </a:solidFill>
                <a:latin typeface="Calibri"/>
                <a:ea typeface="Calibri"/>
                <a:cs typeface="Calibri"/>
              </a:rPr>
              <a:t>118</a:t>
            </a:r>
          </a:p>
        </p:txBody>
      </p:sp>
      <p:sp>
        <p:nvSpPr>
          <p:cNvPr id="5" name="lignes usagers avec grav = -1">
            <a:extLst xmlns:a="http://schemas.openxmlformats.org/drawingml/2006/main">
              <a:ext uri="{FF2B5EF4-FFF2-40B4-BE49-F238E27FC236}">
                <a16:creationId xmlns:a16="http://schemas.microsoft.com/office/drawing/2014/main" id="{DF8E4E64-0459-470F-8C7B-DB536107702C}"/>
              </a:ext>
            </a:extLst>
          </p:cNvPr>
          <p:cNvSpPr>
            <a:spLocks xmlns:a="http://schemas.openxmlformats.org/drawingml/2006/main" noGrp="1"/>
          </p:cNvSpPr>
          <p:nvPr/>
        </p:nvSpPr>
        <p:spPr>
          <a:xfrm xmlns:a="http://schemas.openxmlformats.org/drawingml/2006/main">
            <a:off x="685800" y="3028950"/>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163E39"/>
                </a:solidFill>
                <a:latin typeface="Calibri"/>
                <a:ea typeface="Calibri"/>
                <a:cs typeface="Calibri"/>
              </a:defRPr>
            </a:defPPr>
          </a:lstStyle>
          <a:p xmlns:a="http://schemas.openxmlformats.org/drawingml/2006/main">
            <a:pPr algn="l">
              <a:defRPr sz="2250" b="1">
                <a:solidFill>
                  <a:srgbClr val="163E39"/>
                </a:solidFill>
                <a:latin typeface="Calibri"/>
                <a:ea typeface="Calibri"/>
                <a:cs typeface="Calibri"/>
              </a:defRPr>
            </a:pPr>
            <a:r>
              <a:rPr sz="2250" b="1">
                <a:solidFill>
                  <a:srgbClr val="163E39"/>
                </a:solidFill>
                <a:latin typeface="Calibri"/>
                <a:ea typeface="Calibri"/>
                <a:cs typeface="Calibri"/>
              </a:rPr>
              <a:t>lignes usagers avec grav = -1</a:t>
            </a:r>
          </a:p>
        </p:txBody>
      </p:sp>
      <p:sp>
        <p:nvSpPr>
          <p:cNvPr id="6" name="sur 125 789 usagers en 2023&#10;soit 0,09 %">
            <a:extLst xmlns:a="http://schemas.openxmlformats.org/drawingml/2006/main">
              <a:ext uri="{FF2B5EF4-FFF2-40B4-BE49-F238E27FC236}">
                <a16:creationId xmlns:a16="http://schemas.microsoft.com/office/drawing/2014/main" id="{FED60126-70E0-458C-80A1-3C7BDBB11878}"/>
              </a:ext>
            </a:extLst>
          </p:cNvPr>
          <p:cNvSpPr>
            <a:spLocks xmlns:a="http://schemas.openxmlformats.org/drawingml/2006/main" noGrp="1"/>
          </p:cNvSpPr>
          <p:nvPr/>
        </p:nvSpPr>
        <p:spPr>
          <a:xfrm xmlns:a="http://schemas.openxmlformats.org/drawingml/2006/main">
            <a:off x="685800" y="384810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61756F"/>
                </a:solidFill>
                <a:latin typeface="Calibri"/>
                <a:ea typeface="Calibri"/>
                <a:cs typeface="Calibri"/>
              </a:defRPr>
            </a:defPPr>
          </a:lstStyle>
          <a:p xmlns:a="http://schemas.openxmlformats.org/drawingml/2006/main">
            <a:pPr algn="l">
              <a:defRPr sz="2175" b="0">
                <a:solidFill>
                  <a:srgbClr val="61756F"/>
                </a:solidFill>
                <a:latin typeface="Calibri"/>
                <a:ea typeface="Calibri"/>
                <a:cs typeface="Calibri"/>
              </a:defRPr>
            </a:pPr>
            <a:r>
              <a:rPr sz="2175" b="0">
                <a:solidFill>
                  <a:srgbClr val="61756F"/>
                </a:solidFill>
                <a:latin typeface="Calibri"/>
                <a:ea typeface="Calibri"/>
                <a:cs typeface="Calibri"/>
              </a:rPr>
              <a:t>sur 125 789 usagers en 2023</a:t>
            </a:r>
          </a:p>
          <a:p xmlns:a="http://schemas.openxmlformats.org/drawingml/2006/main">
            <a:pPr algn="l">
              <a:defRPr sz="2175" b="0">
                <a:solidFill>
                  <a:srgbClr val="61756F"/>
                </a:solidFill>
                <a:latin typeface="Calibri"/>
                <a:ea typeface="Calibri"/>
                <a:cs typeface="Calibri"/>
              </a:defRPr>
            </a:pPr>
            <a:r>
              <a:rPr sz="2175" b="0">
                <a:solidFill>
                  <a:srgbClr val="61756F"/>
                </a:solidFill>
                <a:latin typeface="Calibri"/>
                <a:ea typeface="Calibri"/>
                <a:cs typeface="Calibri"/>
              </a:rPr>
              <a:t>soit 0,09 %</a:t>
            </a:r>
          </a:p>
        </p:txBody>
      </p:sp>
      <p:graphicFrame>
        <p:nvGraphicFramePr>
          <p:cNvPr id="7" name="">
            <a:extLst xmlns:a="http://schemas.openxmlformats.org/drawingml/2006/main">
              <a:ext uri="{FF2B5EF4-FFF2-40B4-BE49-F238E27FC236}">
                <a16:creationId xmlns:a16="http://schemas.microsoft.com/office/drawing/2014/main" id="{203FD4D2-663F-4794-BAA5-8A32C58616D5}"/>
              </a:ext>
            </a:extLst>
          </p:cNvPr>
          <p:cNvGraphicFramePr/>
          <p:nvPr/>
        </p:nvGraphicFramePr>
        <p:xfrm>
          <a:off xmlns:a="http://schemas.openxmlformats.org/drawingml/2006/main" x="6096000" y="1809750"/>
          <a:ext xmlns:a="http://schemas.openxmlformats.org/drawingml/2006/main" cx="5410200" cy="2952750"/>
        </p:xfrm>
        <a:graphic xmlns:a="http://schemas.openxmlformats.org/drawingml/2006/main">
          <a:graphicData uri="http://schemas.openxmlformats.org/drawingml/2006/table">
            <a:tbl>
              <a:tblPr/>
              <a:tblGrid>
                <a:gridCol w="3314700"/>
                <a:gridCol w="1047750"/>
                <a:gridCol w="1047750"/>
              </a:tblGrid>
              <a:tr h="738188">
                <a:tc>
                  <a:txBody>
                    <a:bodyPr/>
                    <a:lstStyle/>
                    <a:p>
                      <a:r>
                        <a:rPr sz="1800" b="1">
                          <a:solidFill>
                            <a:srgbClr val="FFFFFF"/>
                          </a:solidFill>
                          <a:latin typeface="Calibri"/>
                          <a:ea typeface="Calibri"/>
                          <a:cs typeface="Calibri"/>
                        </a:rPr>
                        <a:t>Champ critique</a:t>
                      </a:r>
                    </a:p>
                  </a:txBody>
                  <a:tcPr marL="133350" marR="133350" marT="95250" marB="95250" anchor="ctr">
                    <a:lnL w="19050">
                      <a:solidFill>
                        <a:srgbClr val="F5F4EE"/>
                      </a:solidFill>
                    </a:lnL>
                    <a:lnR w="19050">
                      <a:solidFill>
                        <a:srgbClr val="F5F4EE"/>
                      </a:solidFill>
                    </a:lnR>
                    <a:lnT w="19050">
                      <a:solidFill>
                        <a:srgbClr val="F5F4EE"/>
                      </a:solidFill>
                    </a:lnT>
                    <a:lnB w="19050">
                      <a:solidFill>
                        <a:srgbClr val="F5F4EE"/>
                      </a:solidFill>
                    </a:lnB>
                    <a:solidFill>
                      <a:srgbClr val="163E39"/>
                    </a:solidFill>
                  </a:tcPr>
                </a:tc>
                <a:tc>
                  <a:txBody>
                    <a:bodyPr/>
                    <a:lstStyle/>
                    <a:p>
                      <a:r>
                        <a:rPr sz="1800" b="1">
                          <a:solidFill>
                            <a:srgbClr val="FFFFFF"/>
                          </a:solidFill>
                          <a:latin typeface="Calibri"/>
                          <a:ea typeface="Calibri"/>
                          <a:cs typeface="Calibri"/>
                        </a:rPr>
                        <a:t>2023</a:t>
                      </a:r>
                    </a:p>
                  </a:txBody>
                  <a:tcPr marL="133350" marR="133350" marT="95250" marB="95250" anchor="ctr">
                    <a:lnR w="19050">
                      <a:solidFill>
                        <a:srgbClr val="F5F4EE"/>
                      </a:solidFill>
                    </a:lnR>
                    <a:lnT w="19050">
                      <a:solidFill>
                        <a:srgbClr val="F5F4EE"/>
                      </a:solidFill>
                    </a:lnT>
                    <a:lnB w="19050">
                      <a:solidFill>
                        <a:srgbClr val="F5F4EE"/>
                      </a:solidFill>
                    </a:lnB>
                    <a:solidFill>
                      <a:srgbClr val="163E39"/>
                    </a:solidFill>
                  </a:tcPr>
                </a:tc>
                <a:tc>
                  <a:txBody>
                    <a:bodyPr/>
                    <a:lstStyle/>
                    <a:p>
                      <a:r>
                        <a:rPr sz="1800" b="1">
                          <a:solidFill>
                            <a:srgbClr val="FFFFFF"/>
                          </a:solidFill>
                          <a:latin typeface="Calibri"/>
                          <a:ea typeface="Calibri"/>
                          <a:cs typeface="Calibri"/>
                        </a:rPr>
                        <a:t>2024</a:t>
                      </a:r>
                    </a:p>
                  </a:txBody>
                  <a:tcPr marL="133350" marR="133350" marT="95250" marB="95250" anchor="ctr">
                    <a:lnR w="19050">
                      <a:solidFill>
                        <a:srgbClr val="F5F4EE"/>
                      </a:solidFill>
                    </a:lnR>
                    <a:lnT w="19050">
                      <a:solidFill>
                        <a:srgbClr val="F5F4EE"/>
                      </a:solidFill>
                    </a:lnT>
                    <a:lnB w="19050">
                      <a:solidFill>
                        <a:srgbClr val="F5F4EE"/>
                      </a:solidFill>
                    </a:lnB>
                    <a:solidFill>
                      <a:srgbClr val="163E39"/>
                    </a:solidFill>
                  </a:tcPr>
                </a:tc>
              </a:tr>
              <a:tr h="738188">
                <a:tc>
                  <a:txBody>
                    <a:bodyPr/>
                    <a:lstStyle/>
                    <a:p>
                      <a:r>
                        <a:rPr sz="1800" b="0">
                          <a:solidFill>
                            <a:srgbClr val="163E39"/>
                          </a:solidFill>
                          <a:latin typeface="Calibri"/>
                          <a:ea typeface="Calibri"/>
                          <a:cs typeface="Calibri"/>
                        </a:rPr>
                        <a:t>Clé accident absente</a:t>
                      </a:r>
                    </a:p>
                  </a:txBody>
                  <a:tcPr marL="133350" marR="133350" marT="95250" marB="95250"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800" b="0">
                          <a:solidFill>
                            <a:srgbClr val="163E39"/>
                          </a:solidFill>
                          <a:latin typeface="Calibri"/>
                          <a:ea typeface="Calibri"/>
                          <a:cs typeface="Calibri"/>
                        </a:rPr>
                        <a:t>0</a:t>
                      </a:r>
                    </a:p>
                  </a:txBody>
                  <a:tcPr marL="133350" marR="133350" marT="95250" marB="95250" anchor="ctr">
                    <a:lnR w="19050">
                      <a:solidFill>
                        <a:srgbClr val="F5F4EE"/>
                      </a:solidFill>
                    </a:lnR>
                    <a:lnB w="19050">
                      <a:solidFill>
                        <a:srgbClr val="F5F4EE"/>
                      </a:solidFill>
                    </a:lnB>
                    <a:solidFill>
                      <a:srgbClr val="F5F4EE"/>
                    </a:solidFill>
                  </a:tcPr>
                </a:tc>
                <a:tc>
                  <a:txBody>
                    <a:bodyPr/>
                    <a:lstStyle/>
                    <a:p>
                      <a:r>
                        <a:rPr sz="1800" b="0">
                          <a:solidFill>
                            <a:srgbClr val="163E39"/>
                          </a:solidFill>
                          <a:latin typeface="Calibri"/>
                          <a:ea typeface="Calibri"/>
                          <a:cs typeface="Calibri"/>
                        </a:rPr>
                        <a:t>0</a:t>
                      </a:r>
                    </a:p>
                  </a:txBody>
                  <a:tcPr marL="133350" marR="133350" marT="95250" marB="95250" anchor="ctr">
                    <a:lnR w="19050">
                      <a:solidFill>
                        <a:srgbClr val="F5F4EE"/>
                      </a:solidFill>
                    </a:lnR>
                    <a:lnB w="19050">
                      <a:solidFill>
                        <a:srgbClr val="F5F4EE"/>
                      </a:solidFill>
                    </a:lnB>
                    <a:solidFill>
                      <a:srgbClr val="F5F4EE"/>
                    </a:solidFill>
                  </a:tcPr>
                </a:tc>
              </a:tr>
              <a:tr h="738188">
                <a:tc>
                  <a:txBody>
                    <a:bodyPr/>
                    <a:lstStyle/>
                    <a:p>
                      <a:r>
                        <a:rPr sz="1800" b="0">
                          <a:solidFill>
                            <a:srgbClr val="163E39"/>
                          </a:solidFill>
                          <a:latin typeface="Calibri"/>
                          <a:ea typeface="Calibri"/>
                          <a:cs typeface="Calibri"/>
                        </a:rPr>
                        <a:t>Composantes de date vides</a:t>
                      </a:r>
                    </a:p>
                  </a:txBody>
                  <a:tcPr marL="133350" marR="133350" marT="95250" marB="95250"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800" b="0">
                          <a:solidFill>
                            <a:srgbClr val="163E39"/>
                          </a:solidFill>
                          <a:latin typeface="Calibri"/>
                          <a:ea typeface="Calibri"/>
                          <a:cs typeface="Calibri"/>
                        </a:rPr>
                        <a:t>0</a:t>
                      </a:r>
                    </a:p>
                  </a:txBody>
                  <a:tcPr marL="133350" marR="133350" marT="95250" marB="95250" anchor="ctr">
                    <a:lnR w="19050">
                      <a:solidFill>
                        <a:srgbClr val="F5F4EE"/>
                      </a:solidFill>
                    </a:lnR>
                    <a:lnB w="19050">
                      <a:solidFill>
                        <a:srgbClr val="F5F4EE"/>
                      </a:solidFill>
                    </a:lnB>
                    <a:solidFill>
                      <a:srgbClr val="E7EEE7"/>
                    </a:solidFill>
                  </a:tcPr>
                </a:tc>
                <a:tc>
                  <a:txBody>
                    <a:bodyPr/>
                    <a:lstStyle/>
                    <a:p>
                      <a:r>
                        <a:rPr sz="1800" b="0">
                          <a:solidFill>
                            <a:srgbClr val="163E39"/>
                          </a:solidFill>
                          <a:latin typeface="Calibri"/>
                          <a:ea typeface="Calibri"/>
                          <a:cs typeface="Calibri"/>
                        </a:rPr>
                        <a:t>0</a:t>
                      </a:r>
                    </a:p>
                  </a:txBody>
                  <a:tcPr marL="133350" marR="133350" marT="95250" marB="95250" anchor="ctr">
                    <a:lnR w="19050">
                      <a:solidFill>
                        <a:srgbClr val="F5F4EE"/>
                      </a:solidFill>
                    </a:lnR>
                    <a:lnB w="19050">
                      <a:solidFill>
                        <a:srgbClr val="F5F4EE"/>
                      </a:solidFill>
                    </a:lnB>
                    <a:solidFill>
                      <a:srgbClr val="E7EEE7"/>
                    </a:solidFill>
                  </a:tcPr>
                </a:tc>
              </a:tr>
              <a:tr h="738188">
                <a:tc>
                  <a:txBody>
                    <a:bodyPr/>
                    <a:lstStyle/>
                    <a:p>
                      <a:r>
                        <a:rPr sz="1800" b="0">
                          <a:solidFill>
                            <a:srgbClr val="163E39"/>
                          </a:solidFill>
                          <a:latin typeface="Calibri"/>
                          <a:ea typeface="Calibri"/>
                          <a:cs typeface="Calibri"/>
                        </a:rPr>
                        <a:t>Gravité usager inconnue</a:t>
                      </a:r>
                    </a:p>
                  </a:txBody>
                  <a:tcPr marL="133350" marR="133350" marT="95250" marB="95250"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800" b="0">
                          <a:solidFill>
                            <a:srgbClr val="163E39"/>
                          </a:solidFill>
                          <a:latin typeface="Calibri"/>
                          <a:ea typeface="Calibri"/>
                          <a:cs typeface="Calibri"/>
                        </a:rPr>
                        <a:t>118</a:t>
                      </a:r>
                    </a:p>
                  </a:txBody>
                  <a:tcPr marL="133350" marR="133350" marT="95250" marB="95250" anchor="ctr">
                    <a:lnR w="19050">
                      <a:solidFill>
                        <a:srgbClr val="F5F4EE"/>
                      </a:solidFill>
                    </a:lnR>
                    <a:lnB w="19050">
                      <a:solidFill>
                        <a:srgbClr val="F5F4EE"/>
                      </a:solidFill>
                    </a:lnB>
                    <a:solidFill>
                      <a:srgbClr val="F5F4EE"/>
                    </a:solidFill>
                  </a:tcPr>
                </a:tc>
                <a:tc>
                  <a:txBody>
                    <a:bodyPr/>
                    <a:lstStyle/>
                    <a:p>
                      <a:r>
                        <a:rPr sz="1800" b="0">
                          <a:solidFill>
                            <a:srgbClr val="163E39"/>
                          </a:solidFill>
                          <a:latin typeface="Calibri"/>
                          <a:ea typeface="Calibri"/>
                          <a:cs typeface="Calibri"/>
                        </a:rPr>
                        <a:t>0</a:t>
                      </a:r>
                    </a:p>
                  </a:txBody>
                  <a:tcPr marL="133350" marR="133350" marT="95250" marB="95250" anchor="ctr">
                    <a:lnR w="19050">
                      <a:solidFill>
                        <a:srgbClr val="F5F4EE"/>
                      </a:solidFill>
                    </a:lnR>
                    <a:lnB w="19050">
                      <a:solidFill>
                        <a:srgbClr val="F5F4EE"/>
                      </a:solidFill>
                    </a:lnB>
                    <a:solidFill>
                      <a:srgbClr val="F5F4EE"/>
                    </a:solidFill>
                  </a:tcPr>
                </a:tc>
              </a:tr>
            </a:tbl>
          </a:graphicData>
        </a:graphic>
      </p:graphicFrame>
      <p:sp>
        <p:nvSpPr>
          <p:cNvPr id="8" name="Les champs de contexte sont parfois très peu renseignés. Leur pe">
            <a:extLst xmlns:a="http://schemas.openxmlformats.org/drawingml/2006/main">
              <a:ext uri="{FF2B5EF4-FFF2-40B4-BE49-F238E27FC236}">
                <a16:creationId xmlns:a16="http://schemas.microsoft.com/office/drawing/2014/main" id="{160E4336-A1B7-460E-A60B-883D1005B75B}"/>
              </a:ext>
            </a:extLst>
          </p:cNvPr>
          <p:cNvSpPr>
            <a:spLocks xmlns:a="http://schemas.openxmlformats.org/drawingml/2006/main" noGrp="1"/>
          </p:cNvSpPr>
          <p:nvPr/>
        </p:nvSpPr>
        <p:spPr>
          <a:xfrm xmlns:a="http://schemas.openxmlformats.org/drawingml/2006/main">
            <a:off x="685800" y="52768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61756F"/>
                </a:solidFill>
                <a:latin typeface="Calibri"/>
                <a:ea typeface="Calibri"/>
                <a:cs typeface="Calibri"/>
              </a:defRPr>
            </a:defPPr>
          </a:lstStyle>
          <a:p xmlns:a="http://schemas.openxmlformats.org/drawingml/2006/main">
            <a:pPr algn="l">
              <a:defRPr sz="1950" b="0">
                <a:solidFill>
                  <a:srgbClr val="61756F"/>
                </a:solidFill>
                <a:latin typeface="Calibri"/>
                <a:ea typeface="Calibri"/>
                <a:cs typeface="Calibri"/>
              </a:defRPr>
            </a:pPr>
            <a:r>
              <a:rPr sz="1950" b="0">
                <a:solidFill>
                  <a:srgbClr val="61756F"/>
                </a:solidFill>
                <a:latin typeface="Calibri"/>
                <a:ea typeface="Calibri"/>
                <a:cs typeface="Calibri"/>
              </a:rPr>
              <a:t>Les champs de contexte sont parfois très peu renseignés. Leur pertinence dépend de l’usage et du type d’usager.</a:t>
            </a:r>
          </a:p>
        </p:txBody>
      </p:sp>
    </p:spTree>
    <p:extLst>
      <p:ext uri="{BB962C8B-B14F-4D97-AF65-F5344CB8AC3E}">
        <p14:creationId xmlns:p14="http://schemas.microsoft.com/office/powerpoint/2010/main" val="1174080788"/>
      </p:ext>
    </p:extLst>
  </p:cSld>
</p:sld>
</file>

<file path=ppt/slides/slide5.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7" name="Des règles explicites de nettoyage">
            <a:extLst xmlns:a="http://schemas.openxmlformats.org/drawingml/2006/main">
              <a:ext uri="{FF2B5EF4-FFF2-40B4-BE49-F238E27FC236}">
                <a16:creationId xmlns:a16="http://schemas.microsoft.com/office/drawing/2014/main" id="{7C8B6659-CBED-444B-BECF-0E2DEA526264}"/>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Des règles explicites de nettoyage</a:t>
            </a:r>
          </a:p>
        </p:txBody>
      </p:sp>
      <p:sp>
        <p:nvSpPr>
          <p:cNvPr id="2" name="Source : accident.ipynb, préparation des données et définition d">
            <a:extLst xmlns:a="http://schemas.openxmlformats.org/drawingml/2006/main">
              <a:ext uri="{FF2B5EF4-FFF2-40B4-BE49-F238E27FC236}">
                <a16:creationId xmlns:a16="http://schemas.microsoft.com/office/drawing/2014/main" id="{87586D77-BCB3-4C83-B086-633663AA5692}"/>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préparation des données et définition de l’éligibilité</a:t>
            </a:r>
          </a:p>
        </p:txBody>
      </p:sp>
      <p:sp>
        <p:nvSpPr>
          <p:cNvPr id="3" name="05">
            <a:extLst xmlns:a="http://schemas.openxmlformats.org/drawingml/2006/main">
              <a:ext uri="{FF2B5EF4-FFF2-40B4-BE49-F238E27FC236}">
                <a16:creationId xmlns:a16="http://schemas.microsoft.com/office/drawing/2014/main" id="{6D1BB050-6391-42CC-80B1-3219284DFFA7}"/>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05</a:t>
            </a:r>
          </a:p>
        </p:txBody>
      </p:sp>
      <p:graphicFrame>
        <p:nvGraphicFramePr>
          <p:cNvPr id="4" name="">
            <a:extLst xmlns:a="http://schemas.openxmlformats.org/drawingml/2006/main">
              <a:ext uri="{FF2B5EF4-FFF2-40B4-BE49-F238E27FC236}">
                <a16:creationId xmlns:a16="http://schemas.microsoft.com/office/drawing/2014/main" id="{B5130693-9D7E-4247-8ADD-8CA0CB224987}"/>
              </a:ext>
            </a:extLst>
          </p:cNvPr>
          <p:cNvGraphicFramePr/>
          <p:nvPr/>
        </p:nvGraphicFramePr>
        <p:xfrm>
          <a:off xmlns:a="http://schemas.openxmlformats.org/drawingml/2006/main" x="685800" y="1619250"/>
          <a:ext xmlns:a="http://schemas.openxmlformats.org/drawingml/2006/main" cx="10820400" cy="3371850"/>
        </p:xfrm>
        <a:graphic xmlns:a="http://schemas.openxmlformats.org/drawingml/2006/main">
          <a:graphicData uri="http://schemas.openxmlformats.org/drawingml/2006/table">
            <a:tbl>
              <a:tblPr/>
              <a:tblGrid>
                <a:gridCol w="3476625"/>
                <a:gridCol w="7343775"/>
              </a:tblGrid>
              <a:tr h="674370">
                <a:tc>
                  <a:txBody>
                    <a:bodyPr/>
                    <a:lstStyle/>
                    <a:p>
                      <a:r>
                        <a:rPr sz="1875" b="1">
                          <a:solidFill>
                            <a:srgbClr val="FFFFFF"/>
                          </a:solidFill>
                          <a:latin typeface="Calibri"/>
                          <a:ea typeface="Calibri"/>
                          <a:cs typeface="Calibri"/>
                        </a:rPr>
                        <a:t>Élément contrôlé</a:t>
                      </a:r>
                    </a:p>
                  </a:txBody>
                  <a:tcPr marL="133350" marR="133350" marT="95250" marB="95250" anchor="ctr">
                    <a:lnL w="19050">
                      <a:solidFill>
                        <a:srgbClr val="F5F4EE"/>
                      </a:solidFill>
                    </a:lnL>
                    <a:lnR w="19050">
                      <a:solidFill>
                        <a:srgbClr val="F5F4EE"/>
                      </a:solidFill>
                    </a:lnR>
                    <a:lnT w="19050">
                      <a:solidFill>
                        <a:srgbClr val="F5F4EE"/>
                      </a:solidFill>
                    </a:lnT>
                    <a:lnB w="19050">
                      <a:solidFill>
                        <a:srgbClr val="F5F4EE"/>
                      </a:solidFill>
                    </a:lnB>
                    <a:solidFill>
                      <a:srgbClr val="163E39"/>
                    </a:solidFill>
                  </a:tcPr>
                </a:tc>
                <a:tc>
                  <a:txBody>
                    <a:bodyPr/>
                    <a:lstStyle/>
                    <a:p>
                      <a:r>
                        <a:rPr sz="1875" b="1">
                          <a:solidFill>
                            <a:srgbClr val="FFFFFF"/>
                          </a:solidFill>
                          <a:latin typeface="Calibri"/>
                          <a:ea typeface="Calibri"/>
                          <a:cs typeface="Calibri"/>
                        </a:rPr>
                        <a:t>Règle appliquée</a:t>
                      </a:r>
                    </a:p>
                  </a:txBody>
                  <a:tcPr marL="133350" marR="133350" marT="95250" marB="95250" anchor="ctr">
                    <a:lnR w="19050">
                      <a:solidFill>
                        <a:srgbClr val="F5F4EE"/>
                      </a:solidFill>
                    </a:lnR>
                    <a:lnT w="19050">
                      <a:solidFill>
                        <a:srgbClr val="F5F4EE"/>
                      </a:solidFill>
                    </a:lnT>
                    <a:lnB w="19050">
                      <a:solidFill>
                        <a:srgbClr val="F5F4EE"/>
                      </a:solidFill>
                    </a:lnB>
                    <a:solidFill>
                      <a:srgbClr val="163E39"/>
                    </a:solidFill>
                  </a:tcPr>
                </a:tc>
              </a:tr>
              <a:tr h="674370">
                <a:tc>
                  <a:txBody>
                    <a:bodyPr/>
                    <a:lstStyle/>
                    <a:p>
                      <a:r>
                        <a:rPr sz="1875" b="0">
                          <a:solidFill>
                            <a:srgbClr val="163E39"/>
                          </a:solidFill>
                          <a:latin typeface="Calibri"/>
                          <a:ea typeface="Calibri"/>
                          <a:cs typeface="Calibri"/>
                        </a:rPr>
                        <a:t>Clés</a:t>
                      </a:r>
                    </a:p>
                  </a:txBody>
                  <a:tcPr marL="133350" marR="133350" marT="95250" marB="95250"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875" b="0">
                          <a:solidFill>
                            <a:srgbClr val="163E39"/>
                          </a:solidFill>
                          <a:latin typeface="Calibri"/>
                          <a:ea typeface="Calibri"/>
                          <a:cs typeface="Calibri"/>
                        </a:rPr>
                        <a:t>Suppression des espaces autour de Num_Acc</a:t>
                      </a:r>
                    </a:p>
                  </a:txBody>
                  <a:tcPr marL="133350" marR="133350" marT="95250" marB="95250" anchor="ctr">
                    <a:lnR w="19050">
                      <a:solidFill>
                        <a:srgbClr val="F5F4EE"/>
                      </a:solidFill>
                    </a:lnR>
                    <a:lnB w="19050">
                      <a:solidFill>
                        <a:srgbClr val="F5F4EE"/>
                      </a:solidFill>
                    </a:lnB>
                    <a:solidFill>
                      <a:srgbClr val="F5F4EE"/>
                    </a:solidFill>
                  </a:tcPr>
                </a:tc>
              </a:tr>
              <a:tr h="674370">
                <a:tc>
                  <a:txBody>
                    <a:bodyPr/>
                    <a:lstStyle/>
                    <a:p>
                      <a:r>
                        <a:rPr sz="1875" b="0">
                          <a:solidFill>
                            <a:srgbClr val="163E39"/>
                          </a:solidFill>
                          <a:latin typeface="Calibri"/>
                          <a:ea typeface="Calibri"/>
                          <a:cs typeface="Calibri"/>
                        </a:rPr>
                        <a:t>Clé absente ou dupliquée</a:t>
                      </a:r>
                    </a:p>
                  </a:txBody>
                  <a:tcPr marL="133350" marR="133350" marT="95250" marB="95250"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875" b="0">
                          <a:solidFill>
                            <a:srgbClr val="163E39"/>
                          </a:solidFill>
                          <a:latin typeface="Calibri"/>
                          <a:ea typeface="Calibri"/>
                          <a:cs typeface="Calibri"/>
                        </a:rPr>
                        <a:t>Exclusion de l’accident si le cas apparaît</a:t>
                      </a:r>
                    </a:p>
                  </a:txBody>
                  <a:tcPr marL="133350" marR="133350" marT="95250" marB="95250" anchor="ctr">
                    <a:lnR w="19050">
                      <a:solidFill>
                        <a:srgbClr val="F5F4EE"/>
                      </a:solidFill>
                    </a:lnR>
                    <a:lnB w="19050">
                      <a:solidFill>
                        <a:srgbClr val="F5F4EE"/>
                      </a:solidFill>
                    </a:lnB>
                    <a:solidFill>
                      <a:srgbClr val="E7EEE7"/>
                    </a:solidFill>
                  </a:tcPr>
                </a:tc>
              </a:tr>
              <a:tr h="674370">
                <a:tc>
                  <a:txBody>
                    <a:bodyPr/>
                    <a:lstStyle/>
                    <a:p>
                      <a:r>
                        <a:rPr sz="1875" b="0">
                          <a:solidFill>
                            <a:srgbClr val="163E39"/>
                          </a:solidFill>
                          <a:latin typeface="Calibri"/>
                          <a:ea typeface="Calibri"/>
                          <a:cs typeface="Calibri"/>
                        </a:rPr>
                        <a:t>Date invalide ou mauvaise année</a:t>
                      </a:r>
                    </a:p>
                  </a:txBody>
                  <a:tcPr marL="133350" marR="133350" marT="95250" marB="95250"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875" b="0">
                          <a:solidFill>
                            <a:srgbClr val="163E39"/>
                          </a:solidFill>
                          <a:latin typeface="Calibri"/>
                          <a:ea typeface="Calibri"/>
                          <a:cs typeface="Calibri"/>
                        </a:rPr>
                        <a:t>Exclusion du calcul mensuel</a:t>
                      </a:r>
                    </a:p>
                  </a:txBody>
                  <a:tcPr marL="133350" marR="133350" marT="95250" marB="95250" anchor="ctr">
                    <a:lnR w="19050">
                      <a:solidFill>
                        <a:srgbClr val="F5F4EE"/>
                      </a:solidFill>
                    </a:lnR>
                    <a:lnB w="19050">
                      <a:solidFill>
                        <a:srgbClr val="F5F4EE"/>
                      </a:solidFill>
                    </a:lnB>
                    <a:solidFill>
                      <a:srgbClr val="F5F4EE"/>
                    </a:solidFill>
                  </a:tcPr>
                </a:tc>
              </a:tr>
              <a:tr h="674370">
                <a:tc>
                  <a:txBody>
                    <a:bodyPr/>
                    <a:lstStyle/>
                    <a:p>
                      <a:r>
                        <a:rPr sz="1875" b="0">
                          <a:solidFill>
                            <a:srgbClr val="163E39"/>
                          </a:solidFill>
                          <a:latin typeface="Calibri"/>
                          <a:ea typeface="Calibri"/>
                          <a:cs typeface="Calibri"/>
                        </a:rPr>
                        <a:t>Gravité inconnue</a:t>
                      </a:r>
                    </a:p>
                  </a:txBody>
                  <a:tcPr marL="133350" marR="133350" marT="95250" marB="95250"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875" b="0">
                          <a:solidFill>
                            <a:srgbClr val="163E39"/>
                          </a:solidFill>
                          <a:latin typeface="Calibri"/>
                          <a:ea typeface="Calibri"/>
                          <a:cs typeface="Calibri"/>
                        </a:rPr>
                        <a:t>Usager ignoré pour la gravité. Accident conservé si une autre gravité est valide</a:t>
                      </a:r>
                    </a:p>
                  </a:txBody>
                  <a:tcPr marL="133350" marR="133350" marT="95250" marB="95250" anchor="ctr">
                    <a:lnR w="19050">
                      <a:solidFill>
                        <a:srgbClr val="F5F4EE"/>
                      </a:solidFill>
                    </a:lnR>
                    <a:lnB w="19050">
                      <a:solidFill>
                        <a:srgbClr val="F5F4EE"/>
                      </a:solidFill>
                    </a:lnB>
                    <a:solidFill>
                      <a:srgbClr val="E7EEE7"/>
                    </a:solidFill>
                  </a:tcPr>
                </a:tc>
              </a:tr>
            </a:tbl>
          </a:graphicData>
        </a:graphic>
      </p:graphicFrame>
      <p:sp>
        <p:nvSpPr>
          <p:cNvPr id="5" name="Les codes de gravité ne forment pas une échelle numérique.">
            <a:extLst xmlns:a="http://schemas.openxmlformats.org/drawingml/2006/main">
              <a:ext uri="{FF2B5EF4-FFF2-40B4-BE49-F238E27FC236}">
                <a16:creationId xmlns:a16="http://schemas.microsoft.com/office/drawing/2014/main" id="{34984EC8-9105-413D-AB3A-D118036A06C3}"/>
              </a:ext>
            </a:extLst>
          </p:cNvPr>
          <p:cNvSpPr>
            <a:spLocks xmlns:a="http://schemas.openxmlformats.org/drawingml/2006/main" noGrp="1"/>
          </p:cNvSpPr>
          <p:nvPr/>
        </p:nvSpPr>
        <p:spPr>
          <a:xfrm xmlns:a="http://schemas.openxmlformats.org/drawingml/2006/main">
            <a:off x="685800" y="52768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163E39"/>
                </a:solidFill>
                <a:latin typeface="Calibri"/>
                <a:ea typeface="Calibri"/>
                <a:cs typeface="Calibri"/>
              </a:defRPr>
            </a:defPPr>
          </a:lstStyle>
          <a:p xmlns:a="http://schemas.openxmlformats.org/drawingml/2006/main">
            <a:pPr algn="l">
              <a:defRPr sz="2250" b="1">
                <a:solidFill>
                  <a:srgbClr val="163E39"/>
                </a:solidFill>
                <a:latin typeface="Calibri"/>
                <a:ea typeface="Calibri"/>
                <a:cs typeface="Calibri"/>
              </a:defRPr>
            </a:pPr>
            <a:r>
              <a:rPr sz="2250" b="1">
                <a:solidFill>
                  <a:srgbClr val="163E39"/>
                </a:solidFill>
                <a:latin typeface="Calibri"/>
                <a:ea typeface="Calibri"/>
                <a:cs typeface="Calibri"/>
              </a:rPr>
              <a:t>Les codes de gravité ne forment pas une échelle numérique.</a:t>
            </a:r>
          </a:p>
        </p:txBody>
      </p:sp>
      <p:sp>
        <p:nvSpPr>
          <p:cNvPr id="6" name="Le calcul « au moins un tué » recherche directement le code 2.">
            <a:extLst xmlns:a="http://schemas.openxmlformats.org/drawingml/2006/main">
              <a:ext uri="{FF2B5EF4-FFF2-40B4-BE49-F238E27FC236}">
                <a16:creationId xmlns:a16="http://schemas.microsoft.com/office/drawing/2014/main" id="{533717C9-F58E-4DED-B141-C99DD1D0815D}"/>
              </a:ext>
            </a:extLst>
          </p:cNvPr>
          <p:cNvSpPr>
            <a:spLocks xmlns:a="http://schemas.openxmlformats.org/drawingml/2006/main" noGrp="1"/>
          </p:cNvSpPr>
          <p:nvPr/>
        </p:nvSpPr>
        <p:spPr>
          <a:xfrm xmlns:a="http://schemas.openxmlformats.org/drawingml/2006/main">
            <a:off x="685800" y="57721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61756F"/>
                </a:solidFill>
                <a:latin typeface="Calibri"/>
                <a:ea typeface="Calibri"/>
                <a:cs typeface="Calibri"/>
              </a:defRPr>
            </a:defPPr>
          </a:lstStyle>
          <a:p xmlns:a="http://schemas.openxmlformats.org/drawingml/2006/main">
            <a:pPr algn="l">
              <a:defRPr sz="1950" b="0">
                <a:solidFill>
                  <a:srgbClr val="61756F"/>
                </a:solidFill>
                <a:latin typeface="Calibri"/>
                <a:ea typeface="Calibri"/>
                <a:cs typeface="Calibri"/>
              </a:defRPr>
            </a:pPr>
            <a:r>
              <a:rPr sz="1950" b="0">
                <a:solidFill>
                  <a:srgbClr val="61756F"/>
                </a:solidFill>
                <a:latin typeface="Calibri"/>
                <a:ea typeface="Calibri"/>
                <a:cs typeface="Calibri"/>
              </a:rPr>
              <a:t>Le calcul « au moins un tué » recherche directement le code 2.</a:t>
            </a:r>
          </a:p>
        </p:txBody>
      </p:sp>
    </p:spTree>
    <p:extLst>
      <p:ext uri="{BB962C8B-B14F-4D97-AF65-F5344CB8AC3E}">
        <p14:creationId xmlns:p14="http://schemas.microsoft.com/office/powerpoint/2010/main" val="138966798"/>
      </p:ext>
    </p:extLst>
  </p:cSld>
</p:sld>
</file>

<file path=ppt/slides/slide6.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3" name="Un journal pour retracer les anomalies">
            <a:extLst xmlns:a="http://schemas.openxmlformats.org/drawingml/2006/main">
              <a:ext uri="{FF2B5EF4-FFF2-40B4-BE49-F238E27FC236}">
                <a16:creationId xmlns:a16="http://schemas.microsoft.com/office/drawing/2014/main" id="{65F5F9C7-CBF5-4C90-864A-9AF1C97AAFE0}"/>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Un journal pour retracer les anomalies</a:t>
            </a:r>
          </a:p>
        </p:txBody>
      </p:sp>
      <p:sp>
        <p:nvSpPr>
          <p:cNvPr id="2" name="Source : accident.ipynb, journal_corrections et impact_anomalies">
            <a:extLst xmlns:a="http://schemas.openxmlformats.org/drawingml/2006/main">
              <a:ext uri="{FF2B5EF4-FFF2-40B4-BE49-F238E27FC236}">
                <a16:creationId xmlns:a16="http://schemas.microsoft.com/office/drawing/2014/main" id="{B313D3FE-5826-4F95-99D7-A42324B90464}"/>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journal_corrections et impact_anomalies</a:t>
            </a:r>
          </a:p>
        </p:txBody>
      </p:sp>
      <p:sp>
        <p:nvSpPr>
          <p:cNvPr id="3" name="06">
            <a:extLst xmlns:a="http://schemas.openxmlformats.org/drawingml/2006/main">
              <a:ext uri="{FF2B5EF4-FFF2-40B4-BE49-F238E27FC236}">
                <a16:creationId xmlns:a16="http://schemas.microsoft.com/office/drawing/2014/main" id="{82FEC6FE-35AE-4C47-B977-A66E5418E6CB}"/>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06</a:t>
            </a:r>
          </a:p>
        </p:txBody>
      </p:sp>
      <p:sp>
        <p:nvSpPr>
          <p:cNvPr id="4" name="118">
            <a:extLst xmlns:a="http://schemas.openxmlformats.org/drawingml/2006/main">
              <a:ext uri="{FF2B5EF4-FFF2-40B4-BE49-F238E27FC236}">
                <a16:creationId xmlns:a16="http://schemas.microsoft.com/office/drawing/2014/main" id="{61437FE0-0A55-4FF6-B42F-8EF810EC4365}"/>
              </a:ext>
            </a:extLst>
          </p:cNvPr>
          <p:cNvSpPr>
            <a:spLocks xmlns:a="http://schemas.openxmlformats.org/drawingml/2006/main" noGrp="1"/>
          </p:cNvSpPr>
          <p:nvPr/>
        </p:nvSpPr>
        <p:spPr>
          <a:xfrm xmlns:a="http://schemas.openxmlformats.org/drawingml/2006/main">
            <a:off x="685800" y="1666875"/>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6900" b="1">
                <a:solidFill>
                  <a:srgbClr val="C1663F"/>
                </a:solidFill>
                <a:latin typeface="Calibri"/>
                <a:ea typeface="Calibri"/>
                <a:cs typeface="Calibri"/>
              </a:defRPr>
            </a:defPPr>
          </a:lstStyle>
          <a:p xmlns:a="http://schemas.openxmlformats.org/drawingml/2006/main">
            <a:pPr algn="l">
              <a:defRPr sz="6900" b="1">
                <a:solidFill>
                  <a:srgbClr val="C1663F"/>
                </a:solidFill>
                <a:latin typeface="Calibri"/>
                <a:ea typeface="Calibri"/>
                <a:cs typeface="Calibri"/>
              </a:defRPr>
            </a:pPr>
            <a:r>
              <a:rPr sz="6900" b="1">
                <a:solidFill>
                  <a:srgbClr val="C1663F"/>
                </a:solidFill>
                <a:latin typeface="Calibri"/>
                <a:ea typeface="Calibri"/>
                <a:cs typeface="Calibri"/>
              </a:rPr>
              <a:t>118</a:t>
            </a:r>
          </a:p>
        </p:txBody>
      </p:sp>
      <p:sp>
        <p:nvSpPr>
          <p:cNvPr id="5" name="lignes tracées">
            <a:extLst xmlns:a="http://schemas.openxmlformats.org/drawingml/2006/main">
              <a:ext uri="{FF2B5EF4-FFF2-40B4-BE49-F238E27FC236}">
                <a16:creationId xmlns:a16="http://schemas.microsoft.com/office/drawing/2014/main" id="{5FE500EF-7CD1-4E90-B666-94D8DD321B02}"/>
              </a:ext>
            </a:extLst>
          </p:cNvPr>
          <p:cNvSpPr>
            <a:spLocks xmlns:a="http://schemas.openxmlformats.org/drawingml/2006/main" noGrp="1"/>
          </p:cNvSpPr>
          <p:nvPr/>
        </p:nvSpPr>
        <p:spPr>
          <a:xfrm xmlns:a="http://schemas.openxmlformats.org/drawingml/2006/main">
            <a:off x="685800" y="29241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61756F"/>
                </a:solidFill>
                <a:latin typeface="Calibri"/>
                <a:ea typeface="Calibri"/>
                <a:cs typeface="Calibri"/>
              </a:defRPr>
            </a:defPPr>
          </a:lstStyle>
          <a:p xmlns:a="http://schemas.openxmlformats.org/drawingml/2006/main">
            <a:pPr algn="l">
              <a:defRPr sz="2025" b="0">
                <a:solidFill>
                  <a:srgbClr val="61756F"/>
                </a:solidFill>
                <a:latin typeface="Calibri"/>
                <a:ea typeface="Calibri"/>
                <a:cs typeface="Calibri"/>
              </a:defRPr>
            </a:pPr>
            <a:r>
              <a:rPr sz="2025" b="0">
                <a:solidFill>
                  <a:srgbClr val="61756F"/>
                </a:solidFill>
                <a:latin typeface="Calibri"/>
                <a:ea typeface="Calibri"/>
                <a:cs typeface="Calibri"/>
              </a:rPr>
              <a:t>lignes tracées</a:t>
            </a:r>
          </a:p>
        </p:txBody>
      </p:sp>
      <p:sp>
        <p:nvSpPr>
          <p:cNvPr id="6" name="116">
            <a:extLst xmlns:a="http://schemas.openxmlformats.org/drawingml/2006/main">
              <a:ext uri="{FF2B5EF4-FFF2-40B4-BE49-F238E27FC236}">
                <a16:creationId xmlns:a16="http://schemas.microsoft.com/office/drawing/2014/main" id="{A66B23FE-0FFE-464D-8BF6-D47E11CC0517}"/>
              </a:ext>
            </a:extLst>
          </p:cNvPr>
          <p:cNvSpPr>
            <a:spLocks xmlns:a="http://schemas.openxmlformats.org/drawingml/2006/main" noGrp="1"/>
          </p:cNvSpPr>
          <p:nvPr/>
        </p:nvSpPr>
        <p:spPr>
          <a:xfrm xmlns:a="http://schemas.openxmlformats.org/drawingml/2006/main">
            <a:off x="4400550" y="1666875"/>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6900" b="1">
                <a:solidFill>
                  <a:srgbClr val="163E39"/>
                </a:solidFill>
                <a:latin typeface="Calibri"/>
                <a:ea typeface="Calibri"/>
                <a:cs typeface="Calibri"/>
              </a:defRPr>
            </a:defPPr>
          </a:lstStyle>
          <a:p xmlns:a="http://schemas.openxmlformats.org/drawingml/2006/main">
            <a:pPr algn="l">
              <a:defRPr sz="6900" b="1">
                <a:solidFill>
                  <a:srgbClr val="163E39"/>
                </a:solidFill>
                <a:latin typeface="Calibri"/>
                <a:ea typeface="Calibri"/>
                <a:cs typeface="Calibri"/>
              </a:defRPr>
            </a:pPr>
            <a:r>
              <a:rPr sz="6900" b="1">
                <a:solidFill>
                  <a:srgbClr val="163E39"/>
                </a:solidFill>
                <a:latin typeface="Calibri"/>
                <a:ea typeface="Calibri"/>
                <a:cs typeface="Calibri"/>
              </a:rPr>
              <a:t>116</a:t>
            </a:r>
          </a:p>
        </p:txBody>
      </p:sp>
      <p:sp>
        <p:nvSpPr>
          <p:cNvPr id="7" name="accidents concernés">
            <a:extLst xmlns:a="http://schemas.openxmlformats.org/drawingml/2006/main">
              <a:ext uri="{FF2B5EF4-FFF2-40B4-BE49-F238E27FC236}">
                <a16:creationId xmlns:a16="http://schemas.microsoft.com/office/drawing/2014/main" id="{4FA53A3A-F2D6-4009-B64D-5155ECD32A07}"/>
              </a:ext>
            </a:extLst>
          </p:cNvPr>
          <p:cNvSpPr>
            <a:spLocks xmlns:a="http://schemas.openxmlformats.org/drawingml/2006/main" noGrp="1"/>
          </p:cNvSpPr>
          <p:nvPr/>
        </p:nvSpPr>
        <p:spPr>
          <a:xfrm xmlns:a="http://schemas.openxmlformats.org/drawingml/2006/main">
            <a:off x="4400550" y="29241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61756F"/>
                </a:solidFill>
                <a:latin typeface="Calibri"/>
                <a:ea typeface="Calibri"/>
                <a:cs typeface="Calibri"/>
              </a:defRPr>
            </a:defPPr>
          </a:lstStyle>
          <a:p xmlns:a="http://schemas.openxmlformats.org/drawingml/2006/main">
            <a:pPr algn="l">
              <a:defRPr sz="2025" b="0">
                <a:solidFill>
                  <a:srgbClr val="61756F"/>
                </a:solidFill>
                <a:latin typeface="Calibri"/>
                <a:ea typeface="Calibri"/>
                <a:cs typeface="Calibri"/>
              </a:defRPr>
            </a:pPr>
            <a:r>
              <a:rPr sz="2025" b="0">
                <a:solidFill>
                  <a:srgbClr val="61756F"/>
                </a:solidFill>
                <a:latin typeface="Calibri"/>
                <a:ea typeface="Calibri"/>
                <a:cs typeface="Calibri"/>
              </a:rPr>
              <a:t>accidents concernés</a:t>
            </a:r>
          </a:p>
        </p:txBody>
      </p:sp>
      <p:sp>
        <p:nvSpPr>
          <p:cNvPr id="8" name="0">
            <a:extLst xmlns:a="http://schemas.openxmlformats.org/drawingml/2006/main">
              <a:ext uri="{FF2B5EF4-FFF2-40B4-BE49-F238E27FC236}">
                <a16:creationId xmlns:a16="http://schemas.microsoft.com/office/drawing/2014/main" id="{B1C85295-963F-4D00-A603-3150FF89B5D2}"/>
              </a:ext>
            </a:extLst>
          </p:cNvPr>
          <p:cNvSpPr>
            <a:spLocks xmlns:a="http://schemas.openxmlformats.org/drawingml/2006/main" noGrp="1"/>
          </p:cNvSpPr>
          <p:nvPr/>
        </p:nvSpPr>
        <p:spPr>
          <a:xfrm xmlns:a="http://schemas.openxmlformats.org/drawingml/2006/main">
            <a:off x="8115300" y="1666875"/>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6900" b="1">
                <a:solidFill>
                  <a:srgbClr val="163E39"/>
                </a:solidFill>
                <a:latin typeface="Calibri"/>
                <a:ea typeface="Calibri"/>
                <a:cs typeface="Calibri"/>
              </a:defRPr>
            </a:defPPr>
          </a:lstStyle>
          <a:p xmlns:a="http://schemas.openxmlformats.org/drawingml/2006/main">
            <a:pPr algn="l">
              <a:defRPr sz="6900" b="1">
                <a:solidFill>
                  <a:srgbClr val="163E39"/>
                </a:solidFill>
                <a:latin typeface="Calibri"/>
                <a:ea typeface="Calibri"/>
                <a:cs typeface="Calibri"/>
              </a:defRPr>
            </a:pPr>
            <a:r>
              <a:rPr sz="6900" b="1">
                <a:solidFill>
                  <a:srgbClr val="163E39"/>
                </a:solidFill>
                <a:latin typeface="Calibri"/>
                <a:ea typeface="Calibri"/>
                <a:cs typeface="Calibri"/>
              </a:rPr>
              <a:t>0</a:t>
            </a:r>
          </a:p>
        </p:txBody>
      </p:sp>
      <p:sp>
        <p:nvSpPr>
          <p:cNvPr id="9" name="accident exclu">
            <a:extLst xmlns:a="http://schemas.openxmlformats.org/drawingml/2006/main">
              <a:ext uri="{FF2B5EF4-FFF2-40B4-BE49-F238E27FC236}">
                <a16:creationId xmlns:a16="http://schemas.microsoft.com/office/drawing/2014/main" id="{B23B5B3E-D59E-4264-81D1-6236B074C723}"/>
              </a:ext>
            </a:extLst>
          </p:cNvPr>
          <p:cNvSpPr>
            <a:spLocks xmlns:a="http://schemas.openxmlformats.org/drawingml/2006/main" noGrp="1"/>
          </p:cNvSpPr>
          <p:nvPr/>
        </p:nvSpPr>
        <p:spPr>
          <a:xfrm xmlns:a="http://schemas.openxmlformats.org/drawingml/2006/main">
            <a:off x="8115300" y="29241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61756F"/>
                </a:solidFill>
                <a:latin typeface="Calibri"/>
                <a:ea typeface="Calibri"/>
                <a:cs typeface="Calibri"/>
              </a:defRPr>
            </a:defPPr>
          </a:lstStyle>
          <a:p xmlns:a="http://schemas.openxmlformats.org/drawingml/2006/main">
            <a:pPr algn="l">
              <a:defRPr sz="2025" b="0">
                <a:solidFill>
                  <a:srgbClr val="61756F"/>
                </a:solidFill>
                <a:latin typeface="Calibri"/>
                <a:ea typeface="Calibri"/>
                <a:cs typeface="Calibri"/>
              </a:defRPr>
            </a:pPr>
            <a:r>
              <a:rPr sz="2025" b="0">
                <a:solidFill>
                  <a:srgbClr val="61756F"/>
                </a:solidFill>
                <a:latin typeface="Calibri"/>
                <a:ea typeface="Calibri"/>
                <a:cs typeface="Calibri"/>
              </a:rPr>
              <a:t>accident exclu</a:t>
            </a:r>
          </a:p>
        </p:txBody>
      </p:sp>
      <p:sp>
        <p:nvSpPr>
          <p:cNvPr id="10" name="Chaque accident concerné possède au moins une autre gravité vali">
            <a:extLst xmlns:a="http://schemas.openxmlformats.org/drawingml/2006/main">
              <a:ext uri="{FF2B5EF4-FFF2-40B4-BE49-F238E27FC236}">
                <a16:creationId xmlns:a16="http://schemas.microsoft.com/office/drawing/2014/main" id="{D71082DE-BA1F-4EF2-9B50-1B045E69DDD5}"/>
              </a:ext>
            </a:extLst>
          </p:cNvPr>
          <p:cNvSpPr>
            <a:spLocks xmlns:a="http://schemas.openxmlformats.org/drawingml/2006/main" noGrp="1"/>
          </p:cNvSpPr>
          <p:nvPr/>
        </p:nvSpPr>
        <p:spPr>
          <a:xfrm xmlns:a="http://schemas.openxmlformats.org/drawingml/2006/main">
            <a:off x="685800" y="385762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25" b="1">
                <a:solidFill>
                  <a:srgbClr val="163E39"/>
                </a:solidFill>
                <a:latin typeface="Calibri"/>
                <a:ea typeface="Calibri"/>
                <a:cs typeface="Calibri"/>
              </a:defRPr>
            </a:defPPr>
          </a:lstStyle>
          <a:p xmlns:a="http://schemas.openxmlformats.org/drawingml/2006/main">
            <a:pPr algn="l">
              <a:defRPr sz="2625" b="1">
                <a:solidFill>
                  <a:srgbClr val="163E39"/>
                </a:solidFill>
                <a:latin typeface="Calibri"/>
                <a:ea typeface="Calibri"/>
                <a:cs typeface="Calibri"/>
              </a:defRPr>
            </a:pPr>
            <a:r>
              <a:rPr sz="2625" b="1">
                <a:solidFill>
                  <a:srgbClr val="163E39"/>
                </a:solidFill>
                <a:latin typeface="Calibri"/>
                <a:ea typeface="Calibri"/>
                <a:cs typeface="Calibri"/>
              </a:rPr>
              <a:t>Chaque accident concerné possède au moins une autre gravité valide.</a:t>
            </a:r>
          </a:p>
        </p:txBody>
      </p:sp>
      <p:sp>
        <p:nvSpPr>
          <p:cNvPr id="11" name="Le journal conserve l’année, la règle, la clé, la ligne source, ">
            <a:extLst xmlns:a="http://schemas.openxmlformats.org/drawingml/2006/main">
              <a:ext uri="{FF2B5EF4-FFF2-40B4-BE49-F238E27FC236}">
                <a16:creationId xmlns:a16="http://schemas.microsoft.com/office/drawing/2014/main" id="{B859722B-A332-44CB-825B-DF5366D16DE8}"/>
              </a:ext>
            </a:extLst>
          </p:cNvPr>
          <p:cNvSpPr>
            <a:spLocks xmlns:a="http://schemas.openxmlformats.org/drawingml/2006/main" noGrp="1"/>
          </p:cNvSpPr>
          <p:nvPr/>
        </p:nvSpPr>
        <p:spPr>
          <a:xfrm xmlns:a="http://schemas.openxmlformats.org/drawingml/2006/main">
            <a:off x="685800" y="4829175"/>
            <a:ext cx="10477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61756F"/>
                </a:solidFill>
                <a:latin typeface="Calibri"/>
                <a:ea typeface="Calibri"/>
                <a:cs typeface="Calibri"/>
              </a:defRPr>
            </a:defPPr>
          </a:lstStyle>
          <a:p xmlns:a="http://schemas.openxmlformats.org/drawingml/2006/main">
            <a:pPr algn="l">
              <a:defRPr sz="2025" b="0">
                <a:solidFill>
                  <a:srgbClr val="61756F"/>
                </a:solidFill>
                <a:latin typeface="Calibri"/>
                <a:ea typeface="Calibri"/>
                <a:cs typeface="Calibri"/>
              </a:defRPr>
            </a:pPr>
            <a:r>
              <a:rPr sz="2025" b="0">
                <a:solidFill>
                  <a:srgbClr val="61756F"/>
                </a:solidFill>
                <a:latin typeface="Calibri"/>
                <a:ea typeface="Calibri"/>
                <a:cs typeface="Calibri"/>
              </a:rPr>
              <a:t>Le journal conserve l’année, la règle, la clé, la ligne source, l’action et le statut.</a:t>
            </a:r>
          </a:p>
        </p:txBody>
      </p:sp>
      <p:sp>
        <p:nvSpPr>
          <p:cNvPr id="12" name="Une trace d’anomalie ne vaut pas correction dans le fichier sour">
            <a:extLst xmlns:a="http://schemas.openxmlformats.org/drawingml/2006/main">
              <a:ext uri="{FF2B5EF4-FFF2-40B4-BE49-F238E27FC236}">
                <a16:creationId xmlns:a16="http://schemas.microsoft.com/office/drawing/2014/main" id="{DC6BE95E-F33A-4515-85F7-C4D6127ED2E2}"/>
              </a:ext>
            </a:extLst>
          </p:cNvPr>
          <p:cNvSpPr>
            <a:spLocks xmlns:a="http://schemas.openxmlformats.org/drawingml/2006/main" noGrp="1"/>
          </p:cNvSpPr>
          <p:nvPr/>
        </p:nvSpPr>
        <p:spPr>
          <a:xfrm xmlns:a="http://schemas.openxmlformats.org/drawingml/2006/main">
            <a:off x="685800" y="57626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C1663F"/>
                </a:solidFill>
                <a:latin typeface="Calibri"/>
                <a:ea typeface="Calibri"/>
                <a:cs typeface="Calibri"/>
              </a:defRPr>
            </a:defPPr>
          </a:lstStyle>
          <a:p xmlns:a="http://schemas.openxmlformats.org/drawingml/2006/main">
            <a:pPr algn="l">
              <a:defRPr sz="1950" b="1">
                <a:solidFill>
                  <a:srgbClr val="C1663F"/>
                </a:solidFill>
                <a:latin typeface="Calibri"/>
                <a:ea typeface="Calibri"/>
                <a:cs typeface="Calibri"/>
              </a:defRPr>
            </a:pPr>
            <a:r>
              <a:rPr sz="1950" b="1">
                <a:solidFill>
                  <a:srgbClr val="C1663F"/>
                </a:solidFill>
                <a:latin typeface="Calibri"/>
                <a:ea typeface="Calibri"/>
                <a:cs typeface="Calibri"/>
              </a:rPr>
              <a:t>Une trace d’anomalie ne vaut pas correction dans le fichier source.</a:t>
            </a:r>
          </a:p>
        </p:txBody>
      </p:sp>
    </p:spTree>
    <p:extLst>
      <p:ext uri="{BB962C8B-B14F-4D97-AF65-F5344CB8AC3E}">
        <p14:creationId xmlns:p14="http://schemas.microsoft.com/office/powerpoint/2010/main" val="1014938851"/>
      </p:ext>
    </p:extLst>
  </p:cSld>
</p:sld>
</file>

<file path=ppt/slides/slide7.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7" name="Les contrôles internes passent">
            <a:extLst xmlns:a="http://schemas.openxmlformats.org/drawingml/2006/main">
              <a:ext uri="{FF2B5EF4-FFF2-40B4-BE49-F238E27FC236}">
                <a16:creationId xmlns:a16="http://schemas.microsoft.com/office/drawing/2014/main" id="{FFEA385B-61D6-4E9C-9430-02291AC604FB}"/>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Les contrôles internes passent</a:t>
            </a:r>
          </a:p>
        </p:txBody>
      </p:sp>
      <p:sp>
        <p:nvSpPr>
          <p:cNvPr id="2" name="Source : accident.ipynb, synthèse des contrôles et assertions au">
            <a:extLst xmlns:a="http://schemas.openxmlformats.org/drawingml/2006/main">
              <a:ext uri="{FF2B5EF4-FFF2-40B4-BE49-F238E27FC236}">
                <a16:creationId xmlns:a16="http://schemas.microsoft.com/office/drawing/2014/main" id="{483942AC-8855-49EC-A35E-478F89C763E6}"/>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synthèse des contrôles et assertions automatiques</a:t>
            </a:r>
          </a:p>
        </p:txBody>
      </p:sp>
      <p:sp>
        <p:nvSpPr>
          <p:cNvPr id="3" name="07">
            <a:extLst xmlns:a="http://schemas.openxmlformats.org/drawingml/2006/main">
              <a:ext uri="{FF2B5EF4-FFF2-40B4-BE49-F238E27FC236}">
                <a16:creationId xmlns:a16="http://schemas.microsoft.com/office/drawing/2014/main" id="{AAF548AE-3C22-4D17-89E9-3D72657DCE94}"/>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07</a:t>
            </a:r>
          </a:p>
        </p:txBody>
      </p:sp>
      <p:graphicFrame>
        <p:nvGraphicFramePr>
          <p:cNvPr id="4" name="">
            <a:extLst xmlns:a="http://schemas.openxmlformats.org/drawingml/2006/main">
              <a:ext uri="{FF2B5EF4-FFF2-40B4-BE49-F238E27FC236}">
                <a16:creationId xmlns:a16="http://schemas.microsoft.com/office/drawing/2014/main" id="{9BD74185-4AFB-4402-AF6D-8DEFB59F5FC7}"/>
              </a:ext>
            </a:extLst>
          </p:cNvPr>
          <p:cNvGraphicFramePr/>
          <p:nvPr/>
        </p:nvGraphicFramePr>
        <p:xfrm>
          <a:off xmlns:a="http://schemas.openxmlformats.org/drawingml/2006/main" x="685800" y="1600200"/>
          <a:ext xmlns:a="http://schemas.openxmlformats.org/drawingml/2006/main" cx="10820400" cy="3505200"/>
        </p:xfrm>
        <a:graphic xmlns:a="http://schemas.openxmlformats.org/drawingml/2006/main">
          <a:graphicData uri="http://schemas.openxmlformats.org/drawingml/2006/table">
            <a:tbl>
              <a:tblPr/>
              <a:tblGrid>
                <a:gridCol w="7581900"/>
                <a:gridCol w="1619250"/>
                <a:gridCol w="1619250"/>
              </a:tblGrid>
              <a:tr h="584200">
                <a:tc>
                  <a:txBody>
                    <a:bodyPr/>
                    <a:lstStyle/>
                    <a:p>
                      <a:r>
                        <a:rPr sz="1875" b="1">
                          <a:solidFill>
                            <a:srgbClr val="FFFFFF"/>
                          </a:solidFill>
                          <a:latin typeface="Calibri"/>
                          <a:ea typeface="Calibri"/>
                          <a:cs typeface="Calibri"/>
                        </a:rPr>
                        <a:t>Contrôle sur les accidents éligibles</a:t>
                      </a:r>
                    </a:p>
                  </a:txBody>
                  <a:tcPr marL="133350" marR="133350" marT="95250" marB="95250" anchor="ctr">
                    <a:lnL w="19050">
                      <a:solidFill>
                        <a:srgbClr val="F5F4EE"/>
                      </a:solidFill>
                    </a:lnL>
                    <a:lnR w="19050">
                      <a:solidFill>
                        <a:srgbClr val="F5F4EE"/>
                      </a:solidFill>
                    </a:lnR>
                    <a:lnT w="19050">
                      <a:solidFill>
                        <a:srgbClr val="F5F4EE"/>
                      </a:solidFill>
                    </a:lnT>
                    <a:lnB w="19050">
                      <a:solidFill>
                        <a:srgbClr val="F5F4EE"/>
                      </a:solidFill>
                    </a:lnB>
                    <a:solidFill>
                      <a:srgbClr val="163E39"/>
                    </a:solidFill>
                  </a:tcPr>
                </a:tc>
                <a:tc>
                  <a:txBody>
                    <a:bodyPr/>
                    <a:lstStyle/>
                    <a:p>
                      <a:r>
                        <a:rPr sz="1875" b="1">
                          <a:solidFill>
                            <a:srgbClr val="FFFFFF"/>
                          </a:solidFill>
                          <a:latin typeface="Calibri"/>
                          <a:ea typeface="Calibri"/>
                          <a:cs typeface="Calibri"/>
                        </a:rPr>
                        <a:t>2023</a:t>
                      </a:r>
                    </a:p>
                  </a:txBody>
                  <a:tcPr marL="133350" marR="133350" marT="95250" marB="95250" anchor="ctr">
                    <a:lnR w="19050">
                      <a:solidFill>
                        <a:srgbClr val="F5F4EE"/>
                      </a:solidFill>
                    </a:lnR>
                    <a:lnT w="19050">
                      <a:solidFill>
                        <a:srgbClr val="F5F4EE"/>
                      </a:solidFill>
                    </a:lnT>
                    <a:lnB w="19050">
                      <a:solidFill>
                        <a:srgbClr val="F5F4EE"/>
                      </a:solidFill>
                    </a:lnB>
                    <a:solidFill>
                      <a:srgbClr val="163E39"/>
                    </a:solidFill>
                  </a:tcPr>
                </a:tc>
                <a:tc>
                  <a:txBody>
                    <a:bodyPr/>
                    <a:lstStyle/>
                    <a:p>
                      <a:r>
                        <a:rPr sz="1875" b="1">
                          <a:solidFill>
                            <a:srgbClr val="FFFFFF"/>
                          </a:solidFill>
                          <a:latin typeface="Calibri"/>
                          <a:ea typeface="Calibri"/>
                          <a:cs typeface="Calibri"/>
                        </a:rPr>
                        <a:t>2024</a:t>
                      </a:r>
                    </a:p>
                  </a:txBody>
                  <a:tcPr marL="133350" marR="133350" marT="95250" marB="95250" anchor="ctr">
                    <a:lnR w="19050">
                      <a:solidFill>
                        <a:srgbClr val="F5F4EE"/>
                      </a:solidFill>
                    </a:lnR>
                    <a:lnT w="19050">
                      <a:solidFill>
                        <a:srgbClr val="F5F4EE"/>
                      </a:solidFill>
                    </a:lnT>
                    <a:lnB w="19050">
                      <a:solidFill>
                        <a:srgbClr val="F5F4EE"/>
                      </a:solidFill>
                    </a:lnB>
                    <a:solidFill>
                      <a:srgbClr val="163E39"/>
                    </a:solidFill>
                  </a:tcPr>
                </a:tc>
              </a:tr>
              <a:tr h="584200">
                <a:tc>
                  <a:txBody>
                    <a:bodyPr/>
                    <a:lstStyle/>
                    <a:p>
                      <a:r>
                        <a:rPr sz="1875" b="0">
                          <a:solidFill>
                            <a:srgbClr val="163E39"/>
                          </a:solidFill>
                          <a:latin typeface="Calibri"/>
                          <a:ea typeface="Calibri"/>
                          <a:cs typeface="Calibri"/>
                        </a:rPr>
                        <a:t>Clés uniques et non vides</a:t>
                      </a:r>
                    </a:p>
                  </a:txBody>
                  <a:tcPr marL="133350" marR="133350" marT="95250" marB="95250"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875" b="0">
                          <a:solidFill>
                            <a:srgbClr val="163E39"/>
                          </a:solidFill>
                          <a:latin typeface="Calibri"/>
                          <a:ea typeface="Calibri"/>
                          <a:cs typeface="Calibri"/>
                        </a:rPr>
                        <a:t>OK</a:t>
                      </a:r>
                    </a:p>
                  </a:txBody>
                  <a:tcPr marL="133350" marR="133350" marT="95250" marB="95250" anchor="ctr">
                    <a:lnR w="19050">
                      <a:solidFill>
                        <a:srgbClr val="F5F4EE"/>
                      </a:solidFill>
                    </a:lnR>
                    <a:lnB w="19050">
                      <a:solidFill>
                        <a:srgbClr val="F5F4EE"/>
                      </a:solidFill>
                    </a:lnB>
                    <a:solidFill>
                      <a:srgbClr val="F5F4EE"/>
                    </a:solidFill>
                  </a:tcPr>
                </a:tc>
                <a:tc>
                  <a:txBody>
                    <a:bodyPr/>
                    <a:lstStyle/>
                    <a:p>
                      <a:r>
                        <a:rPr sz="1875" b="0">
                          <a:solidFill>
                            <a:srgbClr val="163E39"/>
                          </a:solidFill>
                          <a:latin typeface="Calibri"/>
                          <a:ea typeface="Calibri"/>
                          <a:cs typeface="Calibri"/>
                        </a:rPr>
                        <a:t>OK</a:t>
                      </a:r>
                    </a:p>
                  </a:txBody>
                  <a:tcPr marL="133350" marR="133350" marT="95250" marB="95250" anchor="ctr">
                    <a:lnR w="19050">
                      <a:solidFill>
                        <a:srgbClr val="F5F4EE"/>
                      </a:solidFill>
                    </a:lnR>
                    <a:lnB w="19050">
                      <a:solidFill>
                        <a:srgbClr val="F5F4EE"/>
                      </a:solidFill>
                    </a:lnB>
                    <a:solidFill>
                      <a:srgbClr val="F5F4EE"/>
                    </a:solidFill>
                  </a:tcPr>
                </a:tc>
              </a:tr>
              <a:tr h="584200">
                <a:tc>
                  <a:txBody>
                    <a:bodyPr/>
                    <a:lstStyle/>
                    <a:p>
                      <a:r>
                        <a:rPr sz="1875" b="0">
                          <a:solidFill>
                            <a:srgbClr val="163E39"/>
                          </a:solidFill>
                          <a:latin typeface="Calibri"/>
                          <a:ea typeface="Calibri"/>
                          <a:cs typeface="Calibri"/>
                        </a:rPr>
                        <a:t>Dates valides et année cohérente</a:t>
                      </a:r>
                    </a:p>
                  </a:txBody>
                  <a:tcPr marL="133350" marR="133350" marT="95250" marB="95250"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875" b="0">
                          <a:solidFill>
                            <a:srgbClr val="163E39"/>
                          </a:solidFill>
                          <a:latin typeface="Calibri"/>
                          <a:ea typeface="Calibri"/>
                          <a:cs typeface="Calibri"/>
                        </a:rPr>
                        <a:t>OK</a:t>
                      </a:r>
                    </a:p>
                  </a:txBody>
                  <a:tcPr marL="133350" marR="133350" marT="95250" marB="95250" anchor="ctr">
                    <a:lnR w="19050">
                      <a:solidFill>
                        <a:srgbClr val="F5F4EE"/>
                      </a:solidFill>
                    </a:lnR>
                    <a:lnB w="19050">
                      <a:solidFill>
                        <a:srgbClr val="F5F4EE"/>
                      </a:solidFill>
                    </a:lnB>
                    <a:solidFill>
                      <a:srgbClr val="E7EEE7"/>
                    </a:solidFill>
                  </a:tcPr>
                </a:tc>
                <a:tc>
                  <a:txBody>
                    <a:bodyPr/>
                    <a:lstStyle/>
                    <a:p>
                      <a:r>
                        <a:rPr sz="1875" b="0">
                          <a:solidFill>
                            <a:srgbClr val="163E39"/>
                          </a:solidFill>
                          <a:latin typeface="Calibri"/>
                          <a:ea typeface="Calibri"/>
                          <a:cs typeface="Calibri"/>
                        </a:rPr>
                        <a:t>OK</a:t>
                      </a:r>
                    </a:p>
                  </a:txBody>
                  <a:tcPr marL="133350" marR="133350" marT="95250" marB="95250" anchor="ctr">
                    <a:lnR w="19050">
                      <a:solidFill>
                        <a:srgbClr val="F5F4EE"/>
                      </a:solidFill>
                    </a:lnR>
                    <a:lnB w="19050">
                      <a:solidFill>
                        <a:srgbClr val="F5F4EE"/>
                      </a:solidFill>
                    </a:lnB>
                    <a:solidFill>
                      <a:srgbClr val="E7EEE7"/>
                    </a:solidFill>
                  </a:tcPr>
                </a:tc>
              </a:tr>
              <a:tr h="584200">
                <a:tc>
                  <a:txBody>
                    <a:bodyPr/>
                    <a:lstStyle/>
                    <a:p>
                      <a:r>
                        <a:rPr sz="1875" b="0">
                          <a:solidFill>
                            <a:srgbClr val="163E39"/>
                          </a:solidFill>
                          <a:latin typeface="Calibri"/>
                          <a:ea typeface="Calibri"/>
                          <a:cs typeface="Calibri"/>
                        </a:rPr>
                        <a:t>Au moins une gravité exploitable</a:t>
                      </a:r>
                    </a:p>
                  </a:txBody>
                  <a:tcPr marL="133350" marR="133350" marT="95250" marB="95250"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875" b="0">
                          <a:solidFill>
                            <a:srgbClr val="163E39"/>
                          </a:solidFill>
                          <a:latin typeface="Calibri"/>
                          <a:ea typeface="Calibri"/>
                          <a:cs typeface="Calibri"/>
                        </a:rPr>
                        <a:t>OK</a:t>
                      </a:r>
                    </a:p>
                  </a:txBody>
                  <a:tcPr marL="133350" marR="133350" marT="95250" marB="95250" anchor="ctr">
                    <a:lnR w="19050">
                      <a:solidFill>
                        <a:srgbClr val="F5F4EE"/>
                      </a:solidFill>
                    </a:lnR>
                    <a:lnB w="19050">
                      <a:solidFill>
                        <a:srgbClr val="F5F4EE"/>
                      </a:solidFill>
                    </a:lnB>
                    <a:solidFill>
                      <a:srgbClr val="F5F4EE"/>
                    </a:solidFill>
                  </a:tcPr>
                </a:tc>
                <a:tc>
                  <a:txBody>
                    <a:bodyPr/>
                    <a:lstStyle/>
                    <a:p>
                      <a:r>
                        <a:rPr sz="1875" b="0">
                          <a:solidFill>
                            <a:srgbClr val="163E39"/>
                          </a:solidFill>
                          <a:latin typeface="Calibri"/>
                          <a:ea typeface="Calibri"/>
                          <a:cs typeface="Calibri"/>
                        </a:rPr>
                        <a:t>OK</a:t>
                      </a:r>
                    </a:p>
                  </a:txBody>
                  <a:tcPr marL="133350" marR="133350" marT="95250" marB="95250" anchor="ctr">
                    <a:lnR w="19050">
                      <a:solidFill>
                        <a:srgbClr val="F5F4EE"/>
                      </a:solidFill>
                    </a:lnR>
                    <a:lnB w="19050">
                      <a:solidFill>
                        <a:srgbClr val="F5F4EE"/>
                      </a:solidFill>
                    </a:lnB>
                    <a:solidFill>
                      <a:srgbClr val="F5F4EE"/>
                    </a:solidFill>
                  </a:tcPr>
                </a:tc>
              </a:tr>
              <a:tr h="584200">
                <a:tc>
                  <a:txBody>
                    <a:bodyPr/>
                    <a:lstStyle/>
                    <a:p>
                      <a:r>
                        <a:rPr sz="1875" b="0">
                          <a:solidFill>
                            <a:srgbClr val="163E39"/>
                          </a:solidFill>
                          <a:latin typeface="Calibri"/>
                          <a:ea typeface="Calibri"/>
                          <a:cs typeface="Calibri"/>
                        </a:rPr>
                        <a:t>Présence de grav = 2 et indicateur concordants</a:t>
                      </a:r>
                    </a:p>
                  </a:txBody>
                  <a:tcPr marL="133350" marR="133350" marT="95250" marB="95250"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875" b="0">
                          <a:solidFill>
                            <a:srgbClr val="163E39"/>
                          </a:solidFill>
                          <a:latin typeface="Calibri"/>
                          <a:ea typeface="Calibri"/>
                          <a:cs typeface="Calibri"/>
                        </a:rPr>
                        <a:t>OK</a:t>
                      </a:r>
                    </a:p>
                  </a:txBody>
                  <a:tcPr marL="133350" marR="133350" marT="95250" marB="95250" anchor="ctr">
                    <a:lnR w="19050">
                      <a:solidFill>
                        <a:srgbClr val="F5F4EE"/>
                      </a:solidFill>
                    </a:lnR>
                    <a:lnB w="19050">
                      <a:solidFill>
                        <a:srgbClr val="F5F4EE"/>
                      </a:solidFill>
                    </a:lnB>
                    <a:solidFill>
                      <a:srgbClr val="E7EEE7"/>
                    </a:solidFill>
                  </a:tcPr>
                </a:tc>
                <a:tc>
                  <a:txBody>
                    <a:bodyPr/>
                    <a:lstStyle/>
                    <a:p>
                      <a:r>
                        <a:rPr sz="1875" b="0">
                          <a:solidFill>
                            <a:srgbClr val="163E39"/>
                          </a:solidFill>
                          <a:latin typeface="Calibri"/>
                          <a:ea typeface="Calibri"/>
                          <a:cs typeface="Calibri"/>
                        </a:rPr>
                        <a:t>OK</a:t>
                      </a:r>
                    </a:p>
                  </a:txBody>
                  <a:tcPr marL="133350" marR="133350" marT="95250" marB="95250" anchor="ctr">
                    <a:lnR w="19050">
                      <a:solidFill>
                        <a:srgbClr val="F5F4EE"/>
                      </a:solidFill>
                    </a:lnR>
                    <a:lnB w="19050">
                      <a:solidFill>
                        <a:srgbClr val="F5F4EE"/>
                      </a:solidFill>
                    </a:lnB>
                    <a:solidFill>
                      <a:srgbClr val="E7EEE7"/>
                    </a:solidFill>
                  </a:tcPr>
                </a:tc>
              </a:tr>
              <a:tr h="584200">
                <a:tc>
                  <a:txBody>
                    <a:bodyPr/>
                    <a:lstStyle/>
                    <a:p>
                      <a:r>
                        <a:rPr sz="1875" b="0">
                          <a:solidFill>
                            <a:srgbClr val="163E39"/>
                          </a:solidFill>
                          <a:latin typeface="Calibri"/>
                          <a:ea typeface="Calibri"/>
                          <a:cs typeface="Calibri"/>
                        </a:rPr>
                        <a:t>Exclusion du KPI</a:t>
                      </a:r>
                    </a:p>
                  </a:txBody>
                  <a:tcPr marL="133350" marR="133350" marT="95250" marB="95250"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875" b="0">
                          <a:solidFill>
                            <a:srgbClr val="163E39"/>
                          </a:solidFill>
                          <a:latin typeface="Calibri"/>
                          <a:ea typeface="Calibri"/>
                          <a:cs typeface="Calibri"/>
                        </a:rPr>
                        <a:t>0 %</a:t>
                      </a:r>
                    </a:p>
                  </a:txBody>
                  <a:tcPr marL="133350" marR="133350" marT="95250" marB="95250" anchor="ctr">
                    <a:lnR w="19050">
                      <a:solidFill>
                        <a:srgbClr val="F5F4EE"/>
                      </a:solidFill>
                    </a:lnR>
                    <a:lnB w="19050">
                      <a:solidFill>
                        <a:srgbClr val="F5F4EE"/>
                      </a:solidFill>
                    </a:lnB>
                    <a:solidFill>
                      <a:srgbClr val="F5F4EE"/>
                    </a:solidFill>
                  </a:tcPr>
                </a:tc>
                <a:tc>
                  <a:txBody>
                    <a:bodyPr/>
                    <a:lstStyle/>
                    <a:p>
                      <a:r>
                        <a:rPr sz="1875" b="0">
                          <a:solidFill>
                            <a:srgbClr val="163E39"/>
                          </a:solidFill>
                          <a:latin typeface="Calibri"/>
                          <a:ea typeface="Calibri"/>
                          <a:cs typeface="Calibri"/>
                        </a:rPr>
                        <a:t>0 %</a:t>
                      </a:r>
                    </a:p>
                  </a:txBody>
                  <a:tcPr marL="133350" marR="133350" marT="95250" marB="95250" anchor="ctr">
                    <a:lnR w="19050">
                      <a:solidFill>
                        <a:srgbClr val="F5F4EE"/>
                      </a:solidFill>
                    </a:lnR>
                    <a:lnB w="19050">
                      <a:solidFill>
                        <a:srgbClr val="F5F4EE"/>
                      </a:solidFill>
                    </a:lnB>
                    <a:solidFill>
                      <a:srgbClr val="F5F4EE"/>
                    </a:solidFill>
                  </a:tcPr>
                </a:tc>
              </a:tr>
            </a:tbl>
          </a:graphicData>
        </a:graphic>
      </p:graphicFrame>
      <p:sp>
        <p:nvSpPr>
          <p:cNvPr id="5" name="Ces contrôles vérifient la cohérence des données disponibles.">
            <a:extLst xmlns:a="http://schemas.openxmlformats.org/drawingml/2006/main">
              <a:ext uri="{FF2B5EF4-FFF2-40B4-BE49-F238E27FC236}">
                <a16:creationId xmlns:a16="http://schemas.microsoft.com/office/drawing/2014/main" id="{9D4064A4-5605-4A3F-95AE-D1B00C142610}"/>
              </a:ext>
            </a:extLst>
          </p:cNvPr>
          <p:cNvSpPr>
            <a:spLocks xmlns:a="http://schemas.openxmlformats.org/drawingml/2006/main" noGrp="1"/>
          </p:cNvSpPr>
          <p:nvPr/>
        </p:nvSpPr>
        <p:spPr>
          <a:xfrm xmlns:a="http://schemas.openxmlformats.org/drawingml/2006/main">
            <a:off x="685800" y="54006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163E39"/>
                </a:solidFill>
                <a:latin typeface="Calibri"/>
                <a:ea typeface="Calibri"/>
                <a:cs typeface="Calibri"/>
              </a:defRPr>
            </a:defPPr>
          </a:lstStyle>
          <a:p xmlns:a="http://schemas.openxmlformats.org/drawingml/2006/main">
            <a:pPr algn="l">
              <a:defRPr sz="2250" b="1">
                <a:solidFill>
                  <a:srgbClr val="163E39"/>
                </a:solidFill>
                <a:latin typeface="Calibri"/>
                <a:ea typeface="Calibri"/>
                <a:cs typeface="Calibri"/>
              </a:defRPr>
            </a:pPr>
            <a:r>
              <a:rPr sz="2250" b="1">
                <a:solidFill>
                  <a:srgbClr val="163E39"/>
                </a:solidFill>
                <a:latin typeface="Calibri"/>
                <a:ea typeface="Calibri"/>
                <a:cs typeface="Calibri"/>
              </a:rPr>
              <a:t>Ces contrôles vérifient la cohérence des données disponibles.</a:t>
            </a:r>
          </a:p>
        </p:txBody>
      </p:sp>
      <p:sp>
        <p:nvSpPr>
          <p:cNvPr id="6" name="La complétude de l’extraction demande une preuve externe.">
            <a:extLst xmlns:a="http://schemas.openxmlformats.org/drawingml/2006/main">
              <a:ext uri="{FF2B5EF4-FFF2-40B4-BE49-F238E27FC236}">
                <a16:creationId xmlns:a16="http://schemas.microsoft.com/office/drawing/2014/main" id="{BCC18470-9815-4148-BE37-C90FDEF87776}"/>
              </a:ext>
            </a:extLst>
          </p:cNvPr>
          <p:cNvSpPr>
            <a:spLocks xmlns:a="http://schemas.openxmlformats.org/drawingml/2006/main" noGrp="1"/>
          </p:cNvSpPr>
          <p:nvPr/>
        </p:nvSpPr>
        <p:spPr>
          <a:xfrm xmlns:a="http://schemas.openxmlformats.org/drawingml/2006/main">
            <a:off x="685800" y="58578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61756F"/>
                </a:solidFill>
                <a:latin typeface="Calibri"/>
                <a:ea typeface="Calibri"/>
                <a:cs typeface="Calibri"/>
              </a:defRPr>
            </a:defPPr>
          </a:lstStyle>
          <a:p xmlns:a="http://schemas.openxmlformats.org/drawingml/2006/main">
            <a:pPr algn="l">
              <a:defRPr sz="1950" b="0">
                <a:solidFill>
                  <a:srgbClr val="61756F"/>
                </a:solidFill>
                <a:latin typeface="Calibri"/>
                <a:ea typeface="Calibri"/>
                <a:cs typeface="Calibri"/>
              </a:defRPr>
            </a:pPr>
            <a:r>
              <a:rPr sz="1950" b="0">
                <a:solidFill>
                  <a:srgbClr val="61756F"/>
                </a:solidFill>
                <a:latin typeface="Calibri"/>
                <a:ea typeface="Calibri"/>
                <a:cs typeface="Calibri"/>
              </a:rPr>
              <a:t>La complétude de l’extraction demande une preuve externe.</a:t>
            </a:r>
          </a:p>
        </p:txBody>
      </p:sp>
    </p:spTree>
    <p:extLst>
      <p:ext uri="{BB962C8B-B14F-4D97-AF65-F5344CB8AC3E}">
        <p14:creationId xmlns:p14="http://schemas.microsoft.com/office/powerpoint/2010/main" val="866709262"/>
      </p:ext>
    </p:extLst>
  </p:cSld>
</p:sld>
</file>

<file path=ppt/slides/slide8.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9" name="54 402 accidents éligibles en 2024">
            <a:extLst xmlns:a="http://schemas.openxmlformats.org/drawingml/2006/main">
              <a:ext uri="{FF2B5EF4-FFF2-40B4-BE49-F238E27FC236}">
                <a16:creationId xmlns:a16="http://schemas.microsoft.com/office/drawing/2014/main" id="{2A6EB4DE-DA97-43AA-86DC-363FA95AD323}"/>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54 402 accidents éligibles en 2024</a:t>
            </a:r>
          </a:p>
        </p:txBody>
      </p:sp>
      <p:sp>
        <p:nvSpPr>
          <p:cNvPr id="2" name="Source : accident.ipynb, agrégats mensuels et synthèse annuelle">
            <a:extLst xmlns:a="http://schemas.openxmlformats.org/drawingml/2006/main">
              <a:ext uri="{FF2B5EF4-FFF2-40B4-BE49-F238E27FC236}">
                <a16:creationId xmlns:a16="http://schemas.microsoft.com/office/drawing/2014/main" id="{7E2221C3-C49D-409F-ADD1-C3AB38A12B5A}"/>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agrégats mensuels et synthèse annuelle</a:t>
            </a:r>
          </a:p>
        </p:txBody>
      </p:sp>
      <p:sp>
        <p:nvSpPr>
          <p:cNvPr id="3" name="08">
            <a:extLst xmlns:a="http://schemas.openxmlformats.org/drawingml/2006/main">
              <a:ext uri="{FF2B5EF4-FFF2-40B4-BE49-F238E27FC236}">
                <a16:creationId xmlns:a16="http://schemas.microsoft.com/office/drawing/2014/main" id="{B3C68E49-C971-4E97-B03F-212D698A0675}"/>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08</a:t>
            </a:r>
          </a:p>
        </p:txBody>
      </p:sp>
      <p:graphicFrame>
        <p:nvGraphicFramePr>
          <p:cNvPr id="4" name="Chart">
            <a:extLst xmlns:a="http://schemas.openxmlformats.org/drawingml/2006/main">
              <a:ext uri="{FF2B5EF4-FFF2-40B4-BE49-F238E27FC236}">
                <a16:creationId xmlns:a16="http://schemas.microsoft.com/office/drawing/2014/main" id="{243CC6CA-1999-46E0-B123-728E2CF43833}"/>
              </a:ext>
            </a:extLst>
          </p:cNvPr>
          <p:cNvGraphicFramePr/>
          <p:nvPr/>
        </p:nvGraphicFramePr>
        <p:xfrm>
          <a:off xmlns:a="http://schemas.openxmlformats.org/drawingml/2006/main" x="685800" y="1857375"/>
          <a:ext xmlns:a="http://schemas.openxmlformats.org/drawingml/2006/main" cx="6762750" cy="3619500"/>
        </p:xfrm>
        <a:graphic xmlns:a="http://schemas.openxmlformats.org/drawingml/2006/main">
          <a:graphicData uri="http://schemas.openxmlformats.org/drawingml/2006/chart">
            <c:chart xmlns:r="http://schemas.openxmlformats.org/officeDocument/2006/relationships" xmlns:c="http://schemas.openxmlformats.org/drawingml/2006/chart" r:id="Rcdd5a923c6394003"/>
          </a:graphicData>
        </a:graphic>
      </p:graphicFrame>
      <p:sp>
        <p:nvSpPr>
          <p:cNvPr id="5" name="−0,8 %">
            <a:extLst xmlns:a="http://schemas.openxmlformats.org/drawingml/2006/main">
              <a:ext uri="{FF2B5EF4-FFF2-40B4-BE49-F238E27FC236}">
                <a16:creationId xmlns:a16="http://schemas.microsoft.com/office/drawing/2014/main" id="{05906FB0-66B4-452F-8B39-619B19FFE113}"/>
              </a:ext>
            </a:extLst>
          </p:cNvPr>
          <p:cNvSpPr>
            <a:spLocks xmlns:a="http://schemas.openxmlformats.org/drawingml/2006/main" noGrp="1"/>
          </p:cNvSpPr>
          <p:nvPr/>
        </p:nvSpPr>
        <p:spPr>
          <a:xfrm xmlns:a="http://schemas.openxmlformats.org/drawingml/2006/main">
            <a:off x="8058150" y="207645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550" b="1">
                <a:solidFill>
                  <a:srgbClr val="C1663F"/>
                </a:solidFill>
                <a:latin typeface="Calibri"/>
                <a:ea typeface="Calibri"/>
                <a:cs typeface="Calibri"/>
              </a:defRPr>
            </a:defPPr>
          </a:lstStyle>
          <a:p xmlns:a="http://schemas.openxmlformats.org/drawingml/2006/main">
            <a:pPr algn="l">
              <a:defRPr sz="5550" b="1">
                <a:solidFill>
                  <a:srgbClr val="C1663F"/>
                </a:solidFill>
                <a:latin typeface="Calibri"/>
                <a:ea typeface="Calibri"/>
                <a:cs typeface="Calibri"/>
              </a:defRPr>
            </a:pPr>
            <a:r>
              <a:rPr sz="5550" b="1">
                <a:solidFill>
                  <a:srgbClr val="C1663F"/>
                </a:solidFill>
                <a:latin typeface="Calibri"/>
                <a:ea typeface="Calibri"/>
                <a:cs typeface="Calibri"/>
              </a:rPr>
              <a:t>−0,8 %</a:t>
            </a:r>
          </a:p>
        </p:txBody>
      </p:sp>
      <p:sp>
        <p:nvSpPr>
          <p:cNvPr id="6" name="soit 420 accidents de moins&#10;qu’en 2023">
            <a:extLst xmlns:a="http://schemas.openxmlformats.org/drawingml/2006/main">
              <a:ext uri="{FF2B5EF4-FFF2-40B4-BE49-F238E27FC236}">
                <a16:creationId xmlns:a16="http://schemas.microsoft.com/office/drawing/2014/main" id="{49B22262-85A4-41EB-BA36-B5D8B457A007}"/>
              </a:ext>
            </a:extLst>
          </p:cNvPr>
          <p:cNvSpPr>
            <a:spLocks xmlns:a="http://schemas.openxmlformats.org/drawingml/2006/main" noGrp="1"/>
          </p:cNvSpPr>
          <p:nvPr/>
        </p:nvSpPr>
        <p:spPr>
          <a:xfrm xmlns:a="http://schemas.openxmlformats.org/drawingml/2006/main">
            <a:off x="8058150" y="32004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163E39"/>
                </a:solidFill>
                <a:latin typeface="Calibri"/>
                <a:ea typeface="Calibri"/>
                <a:cs typeface="Calibri"/>
              </a:defRPr>
            </a:defPPr>
          </a:lstStyle>
          <a:p xmlns:a="http://schemas.openxmlformats.org/drawingml/2006/main">
            <a:pPr algn="l">
              <a:defRPr sz="2250" b="1">
                <a:solidFill>
                  <a:srgbClr val="163E39"/>
                </a:solidFill>
                <a:latin typeface="Calibri"/>
                <a:ea typeface="Calibri"/>
                <a:cs typeface="Calibri"/>
              </a:defRPr>
            </a:pPr>
            <a:r>
              <a:rPr sz="2250" b="1">
                <a:solidFill>
                  <a:srgbClr val="163E39"/>
                </a:solidFill>
                <a:latin typeface="Calibri"/>
                <a:ea typeface="Calibri"/>
                <a:cs typeface="Calibri"/>
              </a:rPr>
              <a:t>soit 420 accidents de moins</a:t>
            </a:r>
          </a:p>
          <a:p xmlns:a="http://schemas.openxmlformats.org/drawingml/2006/main">
            <a:pPr algn="l">
              <a:defRPr sz="2250" b="1">
                <a:solidFill>
                  <a:srgbClr val="163E39"/>
                </a:solidFill>
                <a:latin typeface="Calibri"/>
                <a:ea typeface="Calibri"/>
                <a:cs typeface="Calibri"/>
              </a:defRPr>
            </a:pPr>
            <a:r>
              <a:rPr sz="2250" b="1">
                <a:solidFill>
                  <a:srgbClr val="163E39"/>
                </a:solidFill>
                <a:latin typeface="Calibri"/>
                <a:ea typeface="Calibri"/>
                <a:cs typeface="Calibri"/>
              </a:rPr>
              <a:t>qu’en 2023</a:t>
            </a:r>
          </a:p>
        </p:txBody>
      </p:sp>
      <p:sp>
        <p:nvSpPr>
          <p:cNvPr id="7" name="Comparaison descriptive des fichiers fournis.">
            <a:extLst xmlns:a="http://schemas.openxmlformats.org/drawingml/2006/main">
              <a:ext uri="{FF2B5EF4-FFF2-40B4-BE49-F238E27FC236}">
                <a16:creationId xmlns:a16="http://schemas.microsoft.com/office/drawing/2014/main" id="{E4E8778C-F5F7-48F2-9C0F-4F24C1C88140}"/>
              </a:ext>
            </a:extLst>
          </p:cNvPr>
          <p:cNvSpPr>
            <a:spLocks xmlns:a="http://schemas.openxmlformats.org/drawingml/2006/main" noGrp="1"/>
          </p:cNvSpPr>
          <p:nvPr/>
        </p:nvSpPr>
        <p:spPr>
          <a:xfrm xmlns:a="http://schemas.openxmlformats.org/drawingml/2006/main">
            <a:off x="8058150" y="4552950"/>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61756F"/>
                </a:solidFill>
                <a:latin typeface="Calibri"/>
                <a:ea typeface="Calibri"/>
                <a:cs typeface="Calibri"/>
              </a:defRPr>
            </a:defPPr>
          </a:lstStyle>
          <a:p xmlns:a="http://schemas.openxmlformats.org/drawingml/2006/main">
            <a:pPr algn="l">
              <a:defRPr sz="1950" b="0">
                <a:solidFill>
                  <a:srgbClr val="61756F"/>
                </a:solidFill>
                <a:latin typeface="Calibri"/>
                <a:ea typeface="Calibri"/>
                <a:cs typeface="Calibri"/>
              </a:defRPr>
            </a:pPr>
            <a:r>
              <a:rPr sz="1950" b="0">
                <a:solidFill>
                  <a:srgbClr val="61756F"/>
                </a:solidFill>
                <a:latin typeface="Calibri"/>
                <a:ea typeface="Calibri"/>
                <a:cs typeface="Calibri"/>
              </a:rPr>
              <a:t>Comparaison descriptive des fichiers fournis.</a:t>
            </a:r>
          </a:p>
        </p:txBody>
      </p:sp>
      <p:sp>
        <p:nvSpPr>
          <p:cNvPr id="8" name="La comparabilité des extractions reste à confirmer avant publica">
            <a:extLst xmlns:a="http://schemas.openxmlformats.org/drawingml/2006/main">
              <a:ext uri="{FF2B5EF4-FFF2-40B4-BE49-F238E27FC236}">
                <a16:creationId xmlns:a16="http://schemas.microsoft.com/office/drawing/2014/main" id="{35AE404B-DDB5-48AD-BB2C-6A1FE82F459F}"/>
              </a:ext>
            </a:extLst>
          </p:cNvPr>
          <p:cNvSpPr>
            <a:spLocks xmlns:a="http://schemas.openxmlformats.org/drawingml/2006/main" noGrp="1"/>
          </p:cNvSpPr>
          <p:nvPr/>
        </p:nvSpPr>
        <p:spPr>
          <a:xfrm xmlns:a="http://schemas.openxmlformats.org/drawingml/2006/main">
            <a:off x="685800" y="58102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61756F"/>
                </a:solidFill>
                <a:latin typeface="Calibri"/>
                <a:ea typeface="Calibri"/>
                <a:cs typeface="Calibri"/>
              </a:defRPr>
            </a:defPPr>
          </a:lstStyle>
          <a:p xmlns:a="http://schemas.openxmlformats.org/drawingml/2006/main">
            <a:pPr algn="l">
              <a:defRPr sz="1950" b="0">
                <a:solidFill>
                  <a:srgbClr val="61756F"/>
                </a:solidFill>
                <a:latin typeface="Calibri"/>
                <a:ea typeface="Calibri"/>
                <a:cs typeface="Calibri"/>
              </a:defRPr>
            </a:pPr>
            <a:r>
              <a:rPr sz="1950" b="0">
                <a:solidFill>
                  <a:srgbClr val="61756F"/>
                </a:solidFill>
                <a:latin typeface="Calibri"/>
                <a:ea typeface="Calibri"/>
                <a:cs typeface="Calibri"/>
              </a:rPr>
              <a:t>La comparabilité des extractions reste à confirmer avant publication.</a:t>
            </a:r>
          </a:p>
        </p:txBody>
      </p:sp>
    </p:spTree>
    <p:extLst>
      <p:ext uri="{BB962C8B-B14F-4D97-AF65-F5344CB8AC3E}">
        <p14:creationId xmlns:p14="http://schemas.microsoft.com/office/powerpoint/2010/main" val="2094994917"/>
      </p:ext>
    </p:extLst>
  </p:cSld>
</p:sld>
</file>

<file path=ppt/slides/slide9.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8" name="Des variations mensuelles contrastées">
            <a:extLst xmlns:a="http://schemas.openxmlformats.org/drawingml/2006/main">
              <a:ext uri="{FF2B5EF4-FFF2-40B4-BE49-F238E27FC236}">
                <a16:creationId xmlns:a16="http://schemas.microsoft.com/office/drawing/2014/main" id="{4540B5AB-DF70-4070-B082-E4703FF3C8E6}"/>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Des variations mensuelles contrastées</a:t>
            </a:r>
          </a:p>
        </p:txBody>
      </p:sp>
      <p:sp>
        <p:nvSpPr>
          <p:cNvPr id="2" name="Source : accident.ipynb, comparaison par mois calendaire. Écarts">
            <a:extLst xmlns:a="http://schemas.openxmlformats.org/drawingml/2006/main">
              <a:ext uri="{FF2B5EF4-FFF2-40B4-BE49-F238E27FC236}">
                <a16:creationId xmlns:a16="http://schemas.microsoft.com/office/drawing/2014/main" id="{EA1DE344-B5A7-48AF-8CB9-50920885C6E9}"/>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comparaison par mois calendaire. Écarts 2024 / 2023.</a:t>
            </a:r>
          </a:p>
        </p:txBody>
      </p:sp>
      <p:sp>
        <p:nvSpPr>
          <p:cNvPr id="3" name="09">
            <a:extLst xmlns:a="http://schemas.openxmlformats.org/drawingml/2006/main">
              <a:ext uri="{FF2B5EF4-FFF2-40B4-BE49-F238E27FC236}">
                <a16:creationId xmlns:a16="http://schemas.microsoft.com/office/drawing/2014/main" id="{737311B9-EB45-4AE5-9D49-B1A1E4A01EE0}"/>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09</a:t>
            </a:r>
          </a:p>
        </p:txBody>
      </p:sp>
      <p:graphicFrame>
        <p:nvGraphicFramePr>
          <p:cNvPr id="4" name="Chart">
            <a:extLst xmlns:a="http://schemas.openxmlformats.org/drawingml/2006/main">
              <a:ext uri="{FF2B5EF4-FFF2-40B4-BE49-F238E27FC236}">
                <a16:creationId xmlns:a16="http://schemas.microsoft.com/office/drawing/2014/main" id="{C3EB6474-7B46-411B-A1F2-11C3E096D3EC}"/>
              </a:ext>
            </a:extLst>
          </p:cNvPr>
          <p:cNvGraphicFramePr/>
          <p:nvPr/>
        </p:nvGraphicFramePr>
        <p:xfrm>
          <a:off xmlns:a="http://schemas.openxmlformats.org/drawingml/2006/main" x="685800" y="1571625"/>
          <a:ext xmlns:a="http://schemas.openxmlformats.org/drawingml/2006/main" cx="10820400" cy="3524250"/>
        </p:xfrm>
        <a:graphic xmlns:a="http://schemas.openxmlformats.org/drawingml/2006/main">
          <a:graphicData uri="http://schemas.openxmlformats.org/drawingml/2006/chart">
            <c:chart xmlns:r="http://schemas.openxmlformats.org/officeDocument/2006/relationships" xmlns:c="http://schemas.openxmlformats.org/drawingml/2006/chart" r:id="R78dbfa6a1e4b48a5"/>
          </a:graphicData>
        </a:graphic>
      </p:graphicFrame>
      <p:sp>
        <p:nvSpPr>
          <p:cNvPr id="5" name="Avril  +10,2 %">
            <a:extLst xmlns:a="http://schemas.openxmlformats.org/drawingml/2006/main">
              <a:ext uri="{FF2B5EF4-FFF2-40B4-BE49-F238E27FC236}">
                <a16:creationId xmlns:a16="http://schemas.microsoft.com/office/drawing/2014/main" id="{79CD6B65-1260-4D49-8309-12627E385F4A}"/>
              </a:ext>
            </a:extLst>
          </p:cNvPr>
          <p:cNvSpPr>
            <a:spLocks xmlns:a="http://schemas.openxmlformats.org/drawingml/2006/main" noGrp="1"/>
          </p:cNvSpPr>
          <p:nvPr/>
        </p:nvSpPr>
        <p:spPr>
          <a:xfrm xmlns:a="http://schemas.openxmlformats.org/drawingml/2006/main">
            <a:off x="685800" y="53625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237D70"/>
                </a:solidFill>
                <a:latin typeface="Calibri"/>
                <a:ea typeface="Calibri"/>
                <a:cs typeface="Calibri"/>
              </a:defRPr>
            </a:defPPr>
          </a:lstStyle>
          <a:p xmlns:a="http://schemas.openxmlformats.org/drawingml/2006/main">
            <a:pPr algn="l">
              <a:defRPr sz="2550" b="1">
                <a:solidFill>
                  <a:srgbClr val="237D70"/>
                </a:solidFill>
                <a:latin typeface="Calibri"/>
                <a:ea typeface="Calibri"/>
                <a:cs typeface="Calibri"/>
              </a:defRPr>
            </a:pPr>
            <a:r>
              <a:rPr sz="2550" b="1">
                <a:solidFill>
                  <a:srgbClr val="237D70"/>
                </a:solidFill>
                <a:latin typeface="Calibri"/>
                <a:ea typeface="Calibri"/>
                <a:cs typeface="Calibri"/>
              </a:rPr>
              <a:t>Avril  +10,2 %</a:t>
            </a:r>
          </a:p>
        </p:txBody>
      </p:sp>
      <p:sp>
        <p:nvSpPr>
          <p:cNvPr id="6" name="Octobre  −10,9 %">
            <a:extLst xmlns:a="http://schemas.openxmlformats.org/drawingml/2006/main">
              <a:ext uri="{FF2B5EF4-FFF2-40B4-BE49-F238E27FC236}">
                <a16:creationId xmlns:a16="http://schemas.microsoft.com/office/drawing/2014/main" id="{C4CA057F-5976-40DF-937D-22F12A881FCE}"/>
              </a:ext>
            </a:extLst>
          </p:cNvPr>
          <p:cNvSpPr>
            <a:spLocks xmlns:a="http://schemas.openxmlformats.org/drawingml/2006/main" noGrp="1"/>
          </p:cNvSpPr>
          <p:nvPr/>
        </p:nvSpPr>
        <p:spPr>
          <a:xfrm xmlns:a="http://schemas.openxmlformats.org/drawingml/2006/main">
            <a:off x="6572250" y="5362575"/>
            <a:ext cx="4933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C1663F"/>
                </a:solidFill>
                <a:latin typeface="Calibri"/>
                <a:ea typeface="Calibri"/>
                <a:cs typeface="Calibri"/>
              </a:defRPr>
            </a:defPPr>
          </a:lstStyle>
          <a:p xmlns:a="http://schemas.openxmlformats.org/drawingml/2006/main">
            <a:pPr algn="l">
              <a:defRPr sz="2550" b="1">
                <a:solidFill>
                  <a:srgbClr val="C1663F"/>
                </a:solidFill>
                <a:latin typeface="Calibri"/>
                <a:ea typeface="Calibri"/>
                <a:cs typeface="Calibri"/>
              </a:defRPr>
            </a:pPr>
            <a:r>
              <a:rPr sz="2550" b="1">
                <a:solidFill>
                  <a:srgbClr val="C1663F"/>
                </a:solidFill>
                <a:latin typeface="Calibri"/>
                <a:ea typeface="Calibri"/>
                <a:cs typeface="Calibri"/>
              </a:rPr>
              <a:t>Octobre  −10,9 %</a:t>
            </a:r>
          </a:p>
        </p:txBody>
      </p:sp>
      <p:sp>
        <p:nvSpPr>
          <p:cNvPr id="7" name="L’écart annuel masque des évolutions différentes selon les mois.">
            <a:extLst xmlns:a="http://schemas.openxmlformats.org/drawingml/2006/main">
              <a:ext uri="{FF2B5EF4-FFF2-40B4-BE49-F238E27FC236}">
                <a16:creationId xmlns:a16="http://schemas.microsoft.com/office/drawing/2014/main" id="{41615D0D-EAAA-4E52-B620-16A0202E4309}"/>
              </a:ext>
            </a:extLst>
          </p:cNvPr>
          <p:cNvSpPr>
            <a:spLocks xmlns:a="http://schemas.openxmlformats.org/drawingml/2006/main" noGrp="1"/>
          </p:cNvSpPr>
          <p:nvPr/>
        </p:nvSpPr>
        <p:spPr>
          <a:xfrm xmlns:a="http://schemas.openxmlformats.org/drawingml/2006/main">
            <a:off x="685800" y="58674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61756F"/>
                </a:solidFill>
                <a:latin typeface="Calibri"/>
                <a:ea typeface="Calibri"/>
                <a:cs typeface="Calibri"/>
              </a:defRPr>
            </a:defPPr>
          </a:lstStyle>
          <a:p xmlns:a="http://schemas.openxmlformats.org/drawingml/2006/main">
            <a:pPr algn="l">
              <a:defRPr sz="1800" b="0">
                <a:solidFill>
                  <a:srgbClr val="61756F"/>
                </a:solidFill>
                <a:latin typeface="Calibri"/>
                <a:ea typeface="Calibri"/>
                <a:cs typeface="Calibri"/>
              </a:defRPr>
            </a:pPr>
            <a:r>
              <a:rPr sz="1800" b="0">
                <a:solidFill>
                  <a:srgbClr val="61756F"/>
                </a:solidFill>
                <a:latin typeface="Calibri"/>
                <a:ea typeface="Calibri"/>
                <a:cs typeface="Calibri"/>
              </a:rPr>
              <a:t>L’écart annuel masque des évolutions différentes selon les mois. Aucune causalité n’est démontrée.</a:t>
            </a:r>
          </a:p>
        </p:txBody>
      </p:sp>
    </p:spTree>
    <p:extLst>
      <p:ext uri="{BB962C8B-B14F-4D97-AF65-F5344CB8AC3E}">
        <p14:creationId xmlns:p14="http://schemas.microsoft.com/office/powerpoint/2010/main" val="77640599"/>
      </p:ext>
    </p:extLst>
  </p:cSld>
</p:sld>
</file>

<file path=ppt/slides/slide10.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9" name="Les accidents avec au moins un tué">
            <a:extLst xmlns:a="http://schemas.openxmlformats.org/drawingml/2006/main">
              <a:ext uri="{FF2B5EF4-FFF2-40B4-BE49-F238E27FC236}">
                <a16:creationId xmlns:a16="http://schemas.microsoft.com/office/drawing/2014/main" id="{0ED73856-ABB2-4A7B-BBE6-0A9E5CA6CDEF}"/>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Les accidents avec au moins un tué</a:t>
            </a:r>
          </a:p>
        </p:txBody>
      </p:sp>
      <p:sp>
        <p:nvSpPr>
          <p:cNvPr id="2" name="Source : accident.ipynb, somme annuelle des accidents_avec_tue c">
            <a:extLst xmlns:a="http://schemas.openxmlformats.org/drawingml/2006/main">
              <a:ext uri="{FF2B5EF4-FFF2-40B4-BE49-F238E27FC236}">
                <a16:creationId xmlns:a16="http://schemas.microsoft.com/office/drawing/2014/main" id="{0EA1CBDE-4115-4DBA-9F01-8DD3D20E160C}"/>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somme annuelle des accidents_avec_tue calculés par mois</a:t>
            </a:r>
          </a:p>
        </p:txBody>
      </p:sp>
      <p:sp>
        <p:nvSpPr>
          <p:cNvPr id="3" name="10">
            <a:extLst xmlns:a="http://schemas.openxmlformats.org/drawingml/2006/main">
              <a:ext uri="{FF2B5EF4-FFF2-40B4-BE49-F238E27FC236}">
                <a16:creationId xmlns:a16="http://schemas.microsoft.com/office/drawing/2014/main" id="{E10BB40E-CE20-4E26-8124-D70996792012}"/>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10</a:t>
            </a:r>
          </a:p>
        </p:txBody>
      </p:sp>
      <p:graphicFrame>
        <p:nvGraphicFramePr>
          <p:cNvPr id="4" name="Chart">
            <a:extLst xmlns:a="http://schemas.openxmlformats.org/drawingml/2006/main">
              <a:ext uri="{FF2B5EF4-FFF2-40B4-BE49-F238E27FC236}">
                <a16:creationId xmlns:a16="http://schemas.microsoft.com/office/drawing/2014/main" id="{BECC9101-FAE8-4855-97BC-9CD4A6D7F7A6}"/>
              </a:ext>
            </a:extLst>
          </p:cNvPr>
          <p:cNvGraphicFramePr/>
          <p:nvPr/>
        </p:nvGraphicFramePr>
        <p:xfrm>
          <a:off xmlns:a="http://schemas.openxmlformats.org/drawingml/2006/main" x="685800" y="1857375"/>
          <a:ext xmlns:a="http://schemas.openxmlformats.org/drawingml/2006/main" cx="6762750" cy="3619500"/>
        </p:xfrm>
        <a:graphic xmlns:a="http://schemas.openxmlformats.org/drawingml/2006/main">
          <a:graphicData uri="http://schemas.openxmlformats.org/drawingml/2006/chart">
            <c:chart xmlns:r="http://schemas.openxmlformats.org/officeDocument/2006/relationships" xmlns:c="http://schemas.openxmlformats.org/drawingml/2006/chart" r:id="R2375576273424428"/>
          </a:graphicData>
        </a:graphic>
      </p:graphicFrame>
      <p:sp>
        <p:nvSpPr>
          <p:cNvPr id="5" name="+0,7 %">
            <a:extLst xmlns:a="http://schemas.openxmlformats.org/drawingml/2006/main">
              <a:ext uri="{FF2B5EF4-FFF2-40B4-BE49-F238E27FC236}">
                <a16:creationId xmlns:a16="http://schemas.microsoft.com/office/drawing/2014/main" id="{B94B7889-1596-4C49-8438-5DA68339B6BA}"/>
              </a:ext>
            </a:extLst>
          </p:cNvPr>
          <p:cNvSpPr>
            <a:spLocks xmlns:a="http://schemas.openxmlformats.org/drawingml/2006/main" noGrp="1"/>
          </p:cNvSpPr>
          <p:nvPr/>
        </p:nvSpPr>
        <p:spPr>
          <a:xfrm xmlns:a="http://schemas.openxmlformats.org/drawingml/2006/main">
            <a:off x="8058150" y="206692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550" b="1">
                <a:solidFill>
                  <a:srgbClr val="C1663F"/>
                </a:solidFill>
                <a:latin typeface="Calibri"/>
                <a:ea typeface="Calibri"/>
                <a:cs typeface="Calibri"/>
              </a:defRPr>
            </a:defPPr>
          </a:lstStyle>
          <a:p xmlns:a="http://schemas.openxmlformats.org/drawingml/2006/main">
            <a:pPr algn="l">
              <a:defRPr sz="5550" b="1">
                <a:solidFill>
                  <a:srgbClr val="C1663F"/>
                </a:solidFill>
                <a:latin typeface="Calibri"/>
                <a:ea typeface="Calibri"/>
                <a:cs typeface="Calibri"/>
              </a:defRPr>
            </a:pPr>
            <a:r>
              <a:rPr sz="5550" b="1">
                <a:solidFill>
                  <a:srgbClr val="C1663F"/>
                </a:solidFill>
                <a:latin typeface="Calibri"/>
                <a:ea typeface="Calibri"/>
                <a:cs typeface="Calibri"/>
              </a:rPr>
              <a:t>+0,7 %</a:t>
            </a:r>
          </a:p>
        </p:txBody>
      </p:sp>
      <p:sp>
        <p:nvSpPr>
          <p:cNvPr id="6" name="3 203 en 2023&#10;3 226 en 2024">
            <a:extLst xmlns:a="http://schemas.openxmlformats.org/drawingml/2006/main">
              <a:ext uri="{FF2B5EF4-FFF2-40B4-BE49-F238E27FC236}">
                <a16:creationId xmlns:a16="http://schemas.microsoft.com/office/drawing/2014/main" id="{7D0931A6-616A-4AF4-B029-24C0E1F6D1C5}"/>
              </a:ext>
            </a:extLst>
          </p:cNvPr>
          <p:cNvSpPr>
            <a:spLocks xmlns:a="http://schemas.openxmlformats.org/drawingml/2006/main" noGrp="1"/>
          </p:cNvSpPr>
          <p:nvPr/>
        </p:nvSpPr>
        <p:spPr>
          <a:xfrm xmlns:a="http://schemas.openxmlformats.org/drawingml/2006/main">
            <a:off x="8058150" y="32289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63E39"/>
                </a:solidFill>
                <a:latin typeface="Calibri"/>
                <a:ea typeface="Calibri"/>
                <a:cs typeface="Calibri"/>
              </a:defRPr>
            </a:defPPr>
          </a:lstStyle>
          <a:p xmlns:a="http://schemas.openxmlformats.org/drawingml/2006/main">
            <a:pPr algn="l">
              <a:defRPr sz="2400" b="1">
                <a:solidFill>
                  <a:srgbClr val="163E39"/>
                </a:solidFill>
                <a:latin typeface="Calibri"/>
                <a:ea typeface="Calibri"/>
                <a:cs typeface="Calibri"/>
              </a:defRPr>
            </a:pPr>
            <a:r>
              <a:rPr sz="2400" b="1">
                <a:solidFill>
                  <a:srgbClr val="163E39"/>
                </a:solidFill>
                <a:latin typeface="Calibri"/>
                <a:ea typeface="Calibri"/>
                <a:cs typeface="Calibri"/>
              </a:rPr>
              <a:t>3 203 en 2023</a:t>
            </a:r>
          </a:p>
          <a:p xmlns:a="http://schemas.openxmlformats.org/drawingml/2006/main">
            <a:pPr algn="l">
              <a:defRPr sz="2400" b="1">
                <a:solidFill>
                  <a:srgbClr val="163E39"/>
                </a:solidFill>
                <a:latin typeface="Calibri"/>
                <a:ea typeface="Calibri"/>
                <a:cs typeface="Calibri"/>
              </a:defRPr>
            </a:pPr>
            <a:r>
              <a:rPr sz="2400" b="1">
                <a:solidFill>
                  <a:srgbClr val="163E39"/>
                </a:solidFill>
                <a:latin typeface="Calibri"/>
                <a:ea typeface="Calibri"/>
                <a:cs typeface="Calibri"/>
              </a:rPr>
              <a:t>3 226 en 2024</a:t>
            </a:r>
          </a:p>
        </p:txBody>
      </p:sp>
      <p:sp>
        <p:nvSpPr>
          <p:cNvPr id="7" name="Un accident peut compter plusieurs personnes tuées.">
            <a:extLst xmlns:a="http://schemas.openxmlformats.org/drawingml/2006/main">
              <a:ext uri="{FF2B5EF4-FFF2-40B4-BE49-F238E27FC236}">
                <a16:creationId xmlns:a16="http://schemas.microsoft.com/office/drawing/2014/main" id="{A17F1111-5F83-44D4-8B7E-041376A405DE}"/>
              </a:ext>
            </a:extLst>
          </p:cNvPr>
          <p:cNvSpPr>
            <a:spLocks xmlns:a="http://schemas.openxmlformats.org/drawingml/2006/main" noGrp="1"/>
          </p:cNvSpPr>
          <p:nvPr/>
        </p:nvSpPr>
        <p:spPr>
          <a:xfrm xmlns:a="http://schemas.openxmlformats.org/drawingml/2006/main">
            <a:off x="8058150" y="4572000"/>
            <a:ext cx="338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61756F"/>
                </a:solidFill>
                <a:latin typeface="Calibri"/>
                <a:ea typeface="Calibri"/>
                <a:cs typeface="Calibri"/>
              </a:defRPr>
            </a:defPPr>
          </a:lstStyle>
          <a:p xmlns:a="http://schemas.openxmlformats.org/drawingml/2006/main">
            <a:pPr algn="l">
              <a:defRPr sz="2025" b="0">
                <a:solidFill>
                  <a:srgbClr val="61756F"/>
                </a:solidFill>
                <a:latin typeface="Calibri"/>
                <a:ea typeface="Calibri"/>
                <a:cs typeface="Calibri"/>
              </a:defRPr>
            </a:pPr>
            <a:r>
              <a:rPr sz="2025" b="0">
                <a:solidFill>
                  <a:srgbClr val="61756F"/>
                </a:solidFill>
                <a:latin typeface="Calibri"/>
                <a:ea typeface="Calibri"/>
                <a:cs typeface="Calibri"/>
              </a:rPr>
              <a:t>Un accident peut compter plusieurs personnes tuées.</a:t>
            </a:r>
          </a:p>
        </p:txBody>
      </p:sp>
      <p:sp>
        <p:nvSpPr>
          <p:cNvPr id="8" name="L’unité de cet indicateur est l’accident.">
            <a:extLst xmlns:a="http://schemas.openxmlformats.org/drawingml/2006/main">
              <a:ext uri="{FF2B5EF4-FFF2-40B4-BE49-F238E27FC236}">
                <a16:creationId xmlns:a16="http://schemas.microsoft.com/office/drawing/2014/main" id="{10E50A22-4642-4704-90F0-CC1B9F5017C7}"/>
              </a:ext>
            </a:extLst>
          </p:cNvPr>
          <p:cNvSpPr>
            <a:spLocks xmlns:a="http://schemas.openxmlformats.org/drawingml/2006/main" noGrp="1"/>
          </p:cNvSpPr>
          <p:nvPr/>
        </p:nvSpPr>
        <p:spPr>
          <a:xfrm xmlns:a="http://schemas.openxmlformats.org/drawingml/2006/main">
            <a:off x="685800" y="5810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63E39"/>
                </a:solidFill>
                <a:latin typeface="Calibri"/>
                <a:ea typeface="Calibri"/>
                <a:cs typeface="Calibri"/>
              </a:defRPr>
            </a:defPPr>
          </a:lstStyle>
          <a:p xmlns:a="http://schemas.openxmlformats.org/drawingml/2006/main">
            <a:pPr algn="l">
              <a:defRPr sz="2175" b="1">
                <a:solidFill>
                  <a:srgbClr val="163E39"/>
                </a:solidFill>
                <a:latin typeface="Calibri"/>
                <a:ea typeface="Calibri"/>
                <a:cs typeface="Calibri"/>
              </a:defRPr>
            </a:pPr>
            <a:r>
              <a:rPr sz="2175" b="1">
                <a:solidFill>
                  <a:srgbClr val="163E39"/>
                </a:solidFill>
                <a:latin typeface="Calibri"/>
                <a:ea typeface="Calibri"/>
                <a:cs typeface="Calibri"/>
              </a:rPr>
              <a:t>L’unité de cet indicateur est l’accident.</a:t>
            </a:r>
          </a:p>
        </p:txBody>
      </p:sp>
    </p:spTree>
    <p:extLst>
      <p:ext uri="{BB962C8B-B14F-4D97-AF65-F5344CB8AC3E}">
        <p14:creationId xmlns:p14="http://schemas.microsoft.com/office/powerpoint/2010/main" val="370495708"/>
      </p:ext>
    </p:extLst>
  </p:cSld>
</p:sld>
</file>

<file path=ppt/slides/slide11.xml><?xml version="1.0" encoding="utf-8"?>
<p:sld xmlns:p="http://schemas.openxmlformats.org/presentationml/2006/main">
  <p:cSld>
    <p:bg>
      <p:bgPr>
        <a:solidFill xmlns:a="http://schemas.openxmlformats.org/drawingml/2006/main">
          <a:srgbClr val="163E39"/>
        </a:solidFill>
      </p:bgPr>
    </p:bg>
    <p:spTree>
      <p:nvGrpSpPr>
        <p:cNvPr id="1" name=""/>
        <p:cNvGrpSpPr/>
        <p:nvPr/>
      </p:nvGrpSpPr>
      <p:grpSpPr>
        <a:xfrm xmlns:a="http://schemas.openxmlformats.org/drawingml/2006/main"/>
      </p:grpSpPr>
      <p:sp>
        <p:nvSpPr>
          <p:cNvPr id="11" name="La publication reste en NO-GO">
            <a:extLst xmlns:a="http://schemas.openxmlformats.org/drawingml/2006/main">
              <a:ext uri="{FF2B5EF4-FFF2-40B4-BE49-F238E27FC236}">
                <a16:creationId xmlns:a16="http://schemas.microsoft.com/office/drawing/2014/main" id="{DF811884-870E-4C7F-96A1-9561623EAA7E}"/>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FFFFFF"/>
                </a:solidFill>
                <a:latin typeface="Calibri"/>
                <a:ea typeface="Calibri"/>
                <a:cs typeface="Calibri"/>
              </a:defRPr>
            </a:defPPr>
          </a:lstStyle>
          <a:p xmlns:a="http://schemas.openxmlformats.org/drawingml/2006/main">
            <a:pPr algn="l">
              <a:defRPr sz="3450" b="1">
                <a:solidFill>
                  <a:srgbClr val="FFFFFF"/>
                </a:solidFill>
                <a:latin typeface="Calibri"/>
                <a:ea typeface="Calibri"/>
                <a:cs typeface="Calibri"/>
              </a:defRPr>
            </a:pPr>
            <a:r>
              <a:rPr sz="3450" b="1">
                <a:solidFill>
                  <a:srgbClr val="FFFFFF"/>
                </a:solidFill>
                <a:latin typeface="Calibri"/>
                <a:ea typeface="Calibri"/>
                <a:cs typeface="Calibri"/>
              </a:rPr>
              <a:t>La publication reste en NO-GO</a:t>
            </a:r>
          </a:p>
        </p:txBody>
      </p:sp>
      <p:sp>
        <p:nvSpPr>
          <p:cNvPr id="2" name="Source : accident.ipynb, décision et paramètres de rapprochement">
            <a:extLst xmlns:a="http://schemas.openxmlformats.org/drawingml/2006/main">
              <a:ext uri="{FF2B5EF4-FFF2-40B4-BE49-F238E27FC236}">
                <a16:creationId xmlns:a16="http://schemas.microsoft.com/office/drawing/2014/main" id="{0006E275-CDD7-4E20-AF8C-53B6D99E41B9}"/>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BDCEC6"/>
                </a:solidFill>
                <a:latin typeface="Calibri"/>
                <a:ea typeface="Calibri"/>
                <a:cs typeface="Calibri"/>
              </a:defRPr>
            </a:defPPr>
          </a:lstStyle>
          <a:p xmlns:a="http://schemas.openxmlformats.org/drawingml/2006/main">
            <a:pPr algn="l">
              <a:defRPr sz="1125" b="0">
                <a:solidFill>
                  <a:srgbClr val="BDCEC6"/>
                </a:solidFill>
                <a:latin typeface="Calibri"/>
                <a:ea typeface="Calibri"/>
                <a:cs typeface="Calibri"/>
              </a:defRPr>
            </a:pPr>
            <a:r>
              <a:rPr sz="1125" b="0">
                <a:solidFill>
                  <a:srgbClr val="BDCEC6"/>
                </a:solidFill>
                <a:latin typeface="Calibri"/>
                <a:ea typeface="Calibri"/>
                <a:cs typeface="Calibri"/>
              </a:rPr>
              <a:t>Source : accident.ipynb, décision et paramètres de rapprochement</a:t>
            </a:r>
          </a:p>
        </p:txBody>
      </p:sp>
      <p:sp>
        <p:nvSpPr>
          <p:cNvPr id="3" name="11">
            <a:extLst xmlns:a="http://schemas.openxmlformats.org/drawingml/2006/main">
              <a:ext uri="{FF2B5EF4-FFF2-40B4-BE49-F238E27FC236}">
                <a16:creationId xmlns:a16="http://schemas.microsoft.com/office/drawing/2014/main" id="{58F6FB37-6132-4EAF-AFD1-C677811A1EE1}"/>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BDCEC6"/>
                </a:solidFill>
                <a:latin typeface="Calibri"/>
                <a:ea typeface="Calibri"/>
                <a:cs typeface="Calibri"/>
              </a:defRPr>
            </a:defPPr>
          </a:lstStyle>
          <a:p xmlns:a="http://schemas.openxmlformats.org/drawingml/2006/main">
            <a:pPr algn="r">
              <a:defRPr sz="1200" b="0">
                <a:solidFill>
                  <a:srgbClr val="BDCEC6"/>
                </a:solidFill>
                <a:latin typeface="Calibri"/>
                <a:ea typeface="Calibri"/>
                <a:cs typeface="Calibri"/>
              </a:defRPr>
            </a:pPr>
            <a:r>
              <a:rPr sz="1200" b="0">
                <a:solidFill>
                  <a:srgbClr val="BDCEC6"/>
                </a:solidFill>
                <a:latin typeface="Calibri"/>
                <a:ea typeface="Calibri"/>
                <a:cs typeface="Calibri"/>
              </a:rPr>
              <a:t>11</a:t>
            </a:r>
          </a:p>
        </p:txBody>
      </p:sp>
      <p:sp>
        <p:nvSpPr>
          <p:cNvPr id="4" name="NO-GO">
            <a:extLst xmlns:a="http://schemas.openxmlformats.org/drawingml/2006/main">
              <a:ext uri="{FF2B5EF4-FFF2-40B4-BE49-F238E27FC236}">
                <a16:creationId xmlns:a16="http://schemas.microsoft.com/office/drawing/2014/main" id="{D59E8D0C-B378-460E-ADDC-B7F744D2B94E}"/>
              </a:ext>
            </a:extLst>
          </p:cNvPr>
          <p:cNvSpPr>
            <a:spLocks xmlns:a="http://schemas.openxmlformats.org/drawingml/2006/main" noGrp="1"/>
          </p:cNvSpPr>
          <p:nvPr/>
        </p:nvSpPr>
        <p:spPr>
          <a:xfrm xmlns:a="http://schemas.openxmlformats.org/drawingml/2006/main">
            <a:off x="685800" y="1714500"/>
            <a:ext cx="476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6900" b="1">
                <a:solidFill>
                  <a:srgbClr val="F1B494"/>
                </a:solidFill>
                <a:latin typeface="Calibri"/>
                <a:ea typeface="Calibri"/>
                <a:cs typeface="Calibri"/>
              </a:defRPr>
            </a:defPPr>
          </a:lstStyle>
          <a:p xmlns:a="http://schemas.openxmlformats.org/drawingml/2006/main">
            <a:pPr algn="l">
              <a:defRPr sz="6900" b="1">
                <a:solidFill>
                  <a:srgbClr val="F1B494"/>
                </a:solidFill>
                <a:latin typeface="Calibri"/>
                <a:ea typeface="Calibri"/>
                <a:cs typeface="Calibri"/>
              </a:defRPr>
            </a:pPr>
            <a:r>
              <a:rPr sz="6900" b="1">
                <a:solidFill>
                  <a:srgbClr val="F1B494"/>
                </a:solidFill>
                <a:latin typeface="Calibri"/>
                <a:ea typeface="Calibri"/>
                <a:cs typeface="Calibri"/>
              </a:rPr>
              <a:t>NO-GO</a:t>
            </a:r>
          </a:p>
        </p:txBody>
      </p:sp>
      <p:sp>
        <p:nvSpPr>
          <p:cNvPr id="5" name="Le notebook permet le calcul.&#10;La validation externe reste ouvert">
            <a:extLst xmlns:a="http://schemas.openxmlformats.org/drawingml/2006/main">
              <a:ext uri="{FF2B5EF4-FFF2-40B4-BE49-F238E27FC236}">
                <a16:creationId xmlns:a16="http://schemas.microsoft.com/office/drawing/2014/main" id="{71710944-D8E6-4DBB-B26E-D6427C1F1757}"/>
              </a:ext>
            </a:extLst>
          </p:cNvPr>
          <p:cNvSpPr>
            <a:spLocks xmlns:a="http://schemas.openxmlformats.org/drawingml/2006/main" noGrp="1"/>
          </p:cNvSpPr>
          <p:nvPr/>
        </p:nvSpPr>
        <p:spPr>
          <a:xfrm xmlns:a="http://schemas.openxmlformats.org/drawingml/2006/main">
            <a:off x="685800" y="3095625"/>
            <a:ext cx="47625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FFFFFF"/>
                </a:solidFill>
                <a:latin typeface="Calibri"/>
                <a:ea typeface="Calibri"/>
                <a:cs typeface="Calibri"/>
              </a:defRPr>
            </a:defPPr>
          </a:lstStyle>
          <a:p xmlns:a="http://schemas.openxmlformats.org/drawingml/2006/main">
            <a:pPr algn="l">
              <a:defRPr sz="2550" b="1">
                <a:solidFill>
                  <a:srgbClr val="FFFFFF"/>
                </a:solidFill>
                <a:latin typeface="Calibri"/>
                <a:ea typeface="Calibri"/>
                <a:cs typeface="Calibri"/>
              </a:defRPr>
            </a:pPr>
            <a:r>
              <a:rPr sz="2550" b="1">
                <a:solidFill>
                  <a:srgbClr val="FFFFFF"/>
                </a:solidFill>
                <a:latin typeface="Calibri"/>
                <a:ea typeface="Calibri"/>
                <a:cs typeface="Calibri"/>
              </a:rPr>
              <a:t>Le notebook permet le calcul.</a:t>
            </a:r>
          </a:p>
          <a:p xmlns:a="http://schemas.openxmlformats.org/drawingml/2006/main">
            <a:pPr algn="l">
              <a:defRPr sz="2550" b="1">
                <a:solidFill>
                  <a:srgbClr val="FFFFFF"/>
                </a:solidFill>
                <a:latin typeface="Calibri"/>
                <a:ea typeface="Calibri"/>
                <a:cs typeface="Calibri"/>
              </a:defRPr>
            </a:pPr>
            <a:r>
              <a:rPr sz="2550" b="1">
                <a:solidFill>
                  <a:srgbClr val="FFFFFF"/>
                </a:solidFill>
                <a:latin typeface="Calibri"/>
                <a:ea typeface="Calibri"/>
                <a:cs typeface="Calibri"/>
              </a:rPr>
              <a:t>La validation externe reste ouverte.</a:t>
            </a:r>
          </a:p>
        </p:txBody>
      </p:sp>
      <p:sp>
        <p:nvSpPr>
          <p:cNvPr id="6" name="Référence mensuelle officielle">
            <a:extLst xmlns:a="http://schemas.openxmlformats.org/drawingml/2006/main">
              <a:ext uri="{FF2B5EF4-FFF2-40B4-BE49-F238E27FC236}">
                <a16:creationId xmlns:a16="http://schemas.microsoft.com/office/drawing/2014/main" id="{B49CF362-C010-4156-ABC6-1C889D24B3D3}"/>
              </a:ext>
            </a:extLst>
          </p:cNvPr>
          <p:cNvSpPr>
            <a:spLocks xmlns:a="http://schemas.openxmlformats.org/drawingml/2006/main" noGrp="1"/>
          </p:cNvSpPr>
          <p:nvPr/>
        </p:nvSpPr>
        <p:spPr>
          <a:xfrm xmlns:a="http://schemas.openxmlformats.org/drawingml/2006/main">
            <a:off x="6572250" y="18097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1">
                <a:solidFill>
                  <a:srgbClr val="FFFFFF"/>
                </a:solidFill>
                <a:latin typeface="Calibri"/>
                <a:ea typeface="Calibri"/>
                <a:cs typeface="Calibri"/>
              </a:defRPr>
            </a:defPPr>
          </a:lstStyle>
          <a:p xmlns:a="http://schemas.openxmlformats.org/drawingml/2006/main">
            <a:pPr algn="l">
              <a:defRPr sz="2325" b="1">
                <a:solidFill>
                  <a:srgbClr val="FFFFFF"/>
                </a:solidFill>
                <a:latin typeface="Calibri"/>
                <a:ea typeface="Calibri"/>
                <a:cs typeface="Calibri"/>
              </a:defRPr>
            </a:pPr>
            <a:r>
              <a:rPr sz="2325" b="1">
                <a:solidFill>
                  <a:srgbClr val="FFFFFF"/>
                </a:solidFill>
                <a:latin typeface="Calibri"/>
                <a:ea typeface="Calibri"/>
                <a:cs typeface="Calibri"/>
              </a:rPr>
              <a:t>Référence mensuelle officielle</a:t>
            </a:r>
          </a:p>
        </p:txBody>
      </p:sp>
      <p:sp>
        <p:nvSpPr>
          <p:cNvPr id="7" name="Absente du projet. Le rapprochement ne peut pas aboutir.">
            <a:extLst xmlns:a="http://schemas.openxmlformats.org/drawingml/2006/main">
              <a:ext uri="{FF2B5EF4-FFF2-40B4-BE49-F238E27FC236}">
                <a16:creationId xmlns:a16="http://schemas.microsoft.com/office/drawing/2014/main" id="{B18638DD-D0A2-497B-A005-C3FB2C8FBAD3}"/>
              </a:ext>
            </a:extLst>
          </p:cNvPr>
          <p:cNvSpPr>
            <a:spLocks xmlns:a="http://schemas.openxmlformats.org/drawingml/2006/main" noGrp="1"/>
          </p:cNvSpPr>
          <p:nvPr/>
        </p:nvSpPr>
        <p:spPr>
          <a:xfrm xmlns:a="http://schemas.openxmlformats.org/drawingml/2006/main">
            <a:off x="6572250" y="244792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BDCEC6"/>
                </a:solidFill>
                <a:latin typeface="Calibri"/>
                <a:ea typeface="Calibri"/>
                <a:cs typeface="Calibri"/>
              </a:defRPr>
            </a:defPPr>
          </a:lstStyle>
          <a:p xmlns:a="http://schemas.openxmlformats.org/drawingml/2006/main">
            <a:pPr algn="l">
              <a:defRPr sz="2100" b="0">
                <a:solidFill>
                  <a:srgbClr val="BDCEC6"/>
                </a:solidFill>
                <a:latin typeface="Calibri"/>
                <a:ea typeface="Calibri"/>
                <a:cs typeface="Calibri"/>
              </a:defRPr>
            </a:pPr>
            <a:r>
              <a:rPr sz="2100" b="0">
                <a:solidFill>
                  <a:srgbClr val="BDCEC6"/>
                </a:solidFill>
                <a:latin typeface="Calibri"/>
                <a:ea typeface="Calibri"/>
                <a:cs typeface="Calibri"/>
              </a:rPr>
              <a:t>Absente du projet. Le rapprochement ne peut pas aboutir.</a:t>
            </a:r>
          </a:p>
        </p:txBody>
      </p:sp>
      <p:sp>
        <p:nvSpPr>
          <p:cNvPr id="8" name="Preuve de complétude">
            <a:extLst xmlns:a="http://schemas.openxmlformats.org/drawingml/2006/main">
              <a:ext uri="{FF2B5EF4-FFF2-40B4-BE49-F238E27FC236}">
                <a16:creationId xmlns:a16="http://schemas.microsoft.com/office/drawing/2014/main" id="{7256EAA8-7C73-4529-9B4D-ADF33FC0C6AE}"/>
              </a:ext>
            </a:extLst>
          </p:cNvPr>
          <p:cNvSpPr>
            <a:spLocks xmlns:a="http://schemas.openxmlformats.org/drawingml/2006/main" noGrp="1"/>
          </p:cNvSpPr>
          <p:nvPr/>
        </p:nvSpPr>
        <p:spPr>
          <a:xfrm xmlns:a="http://schemas.openxmlformats.org/drawingml/2006/main">
            <a:off x="6572250" y="37814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1">
                <a:solidFill>
                  <a:srgbClr val="FFFFFF"/>
                </a:solidFill>
                <a:latin typeface="Calibri"/>
                <a:ea typeface="Calibri"/>
                <a:cs typeface="Calibri"/>
              </a:defRPr>
            </a:defPPr>
          </a:lstStyle>
          <a:p xmlns:a="http://schemas.openxmlformats.org/drawingml/2006/main">
            <a:pPr algn="l">
              <a:defRPr sz="2325" b="1">
                <a:solidFill>
                  <a:srgbClr val="FFFFFF"/>
                </a:solidFill>
                <a:latin typeface="Calibri"/>
                <a:ea typeface="Calibri"/>
                <a:cs typeface="Calibri"/>
              </a:defRPr>
            </a:pPr>
            <a:r>
              <a:rPr sz="2325" b="1">
                <a:solidFill>
                  <a:srgbClr val="FFFFFF"/>
                </a:solidFill>
                <a:latin typeface="Calibri"/>
                <a:ea typeface="Calibri"/>
                <a:cs typeface="Calibri"/>
              </a:rPr>
              <a:t>Preuve de complétude</a:t>
            </a:r>
          </a:p>
        </p:txBody>
      </p:sp>
      <p:sp>
        <p:nvSpPr>
          <p:cNvPr id="9" name="À confirmer avec un manifeste ou le producteur des données.">
            <a:extLst xmlns:a="http://schemas.openxmlformats.org/drawingml/2006/main">
              <a:ext uri="{FF2B5EF4-FFF2-40B4-BE49-F238E27FC236}">
                <a16:creationId xmlns:a16="http://schemas.microsoft.com/office/drawing/2014/main" id="{495E7517-B465-489A-8C20-467D53318C29}"/>
              </a:ext>
            </a:extLst>
          </p:cNvPr>
          <p:cNvSpPr>
            <a:spLocks xmlns:a="http://schemas.openxmlformats.org/drawingml/2006/main" noGrp="1"/>
          </p:cNvSpPr>
          <p:nvPr/>
        </p:nvSpPr>
        <p:spPr>
          <a:xfrm xmlns:a="http://schemas.openxmlformats.org/drawingml/2006/main">
            <a:off x="6572250" y="441960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BDCEC6"/>
                </a:solidFill>
                <a:latin typeface="Calibri"/>
                <a:ea typeface="Calibri"/>
                <a:cs typeface="Calibri"/>
              </a:defRPr>
            </a:defPPr>
          </a:lstStyle>
          <a:p xmlns:a="http://schemas.openxmlformats.org/drawingml/2006/main">
            <a:pPr algn="l">
              <a:defRPr sz="2100" b="0">
                <a:solidFill>
                  <a:srgbClr val="BDCEC6"/>
                </a:solidFill>
                <a:latin typeface="Calibri"/>
                <a:ea typeface="Calibri"/>
                <a:cs typeface="Calibri"/>
              </a:defRPr>
            </a:pPr>
            <a:r>
              <a:rPr sz="2100" b="0">
                <a:solidFill>
                  <a:srgbClr val="BDCEC6"/>
                </a:solidFill>
                <a:latin typeface="Calibri"/>
                <a:ea typeface="Calibri"/>
                <a:cs typeface="Calibri"/>
              </a:rPr>
              <a:t>À confirmer avec un manifeste ou le producteur des données.</a:t>
            </a:r>
          </a:p>
        </p:txBody>
      </p:sp>
      <p:sp>
        <p:nvSpPr>
          <p:cNvPr id="10" name="Le GO exige les références, une extraction complète et des chiff">
            <a:extLst xmlns:a="http://schemas.openxmlformats.org/drawingml/2006/main">
              <a:ext uri="{FF2B5EF4-FFF2-40B4-BE49-F238E27FC236}">
                <a16:creationId xmlns:a16="http://schemas.microsoft.com/office/drawing/2014/main" id="{3E631F2B-6A2A-4130-BB80-884D35DB8522}"/>
              </a:ext>
            </a:extLst>
          </p:cNvPr>
          <p:cNvSpPr>
            <a:spLocks xmlns:a="http://schemas.openxmlformats.org/drawingml/2006/main" noGrp="1"/>
          </p:cNvSpPr>
          <p:nvPr/>
        </p:nvSpPr>
        <p:spPr>
          <a:xfrm xmlns:a="http://schemas.openxmlformats.org/drawingml/2006/main">
            <a:off x="685800" y="57721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BDCEC6"/>
                </a:solidFill>
                <a:latin typeface="Calibri"/>
                <a:ea typeface="Calibri"/>
                <a:cs typeface="Calibri"/>
              </a:defRPr>
            </a:defPPr>
          </a:lstStyle>
          <a:p xmlns:a="http://schemas.openxmlformats.org/drawingml/2006/main">
            <a:pPr algn="l">
              <a:defRPr sz="1875" b="0">
                <a:solidFill>
                  <a:srgbClr val="BDCEC6"/>
                </a:solidFill>
                <a:latin typeface="Calibri"/>
                <a:ea typeface="Calibri"/>
                <a:cs typeface="Calibri"/>
              </a:defRPr>
            </a:pPr>
            <a:r>
              <a:rPr sz="1875" b="0">
                <a:solidFill>
                  <a:srgbClr val="BDCEC6"/>
                </a:solidFill>
                <a:latin typeface="Calibri"/>
                <a:ea typeface="Calibri"/>
                <a:cs typeface="Calibri"/>
              </a:rPr>
              <a:t>Le GO exige les références, une extraction complète et des chiffres concordants.</a:t>
            </a:r>
          </a:p>
        </p:txBody>
      </p:sp>
    </p:spTree>
    <p:extLst>
      <p:ext uri="{BB962C8B-B14F-4D97-AF65-F5344CB8AC3E}">
        <p14:creationId xmlns:p14="http://schemas.microsoft.com/office/powerpoint/2010/main" val="821371204"/>
      </p:ext>
    </p:extLst>
  </p:cSld>
</p:sld>
</file>

<file path=ppt/slides/slide12.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0" name="Conclusion et suites">
            <a:extLst xmlns:a="http://schemas.openxmlformats.org/drawingml/2006/main">
              <a:ext uri="{FF2B5EF4-FFF2-40B4-BE49-F238E27FC236}">
                <a16:creationId xmlns:a16="http://schemas.microsoft.com/office/drawing/2014/main" id="{1C6D25A3-A039-4E83-91DD-0C49618A88F0}"/>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Conclusion et suites</a:t>
            </a:r>
          </a:p>
        </p:txBody>
      </p:sp>
      <p:sp>
        <p:nvSpPr>
          <p:cNvPr id="2" name="Source : accident.ipynb, synthèse et limites de la décision">
            <a:extLst xmlns:a="http://schemas.openxmlformats.org/drawingml/2006/main">
              <a:ext uri="{FF2B5EF4-FFF2-40B4-BE49-F238E27FC236}">
                <a16:creationId xmlns:a16="http://schemas.microsoft.com/office/drawing/2014/main" id="{716A9E53-C75F-49CA-A41C-22A695DEE0EE}"/>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synthèse et limites de la décision</a:t>
            </a:r>
          </a:p>
        </p:txBody>
      </p:sp>
      <p:sp>
        <p:nvSpPr>
          <p:cNvPr id="3" name="12">
            <a:extLst xmlns:a="http://schemas.openxmlformats.org/drawingml/2006/main">
              <a:ext uri="{FF2B5EF4-FFF2-40B4-BE49-F238E27FC236}">
                <a16:creationId xmlns:a16="http://schemas.microsoft.com/office/drawing/2014/main" id="{F01DFB7D-CE17-48EB-BB91-F5B4BD23E146}"/>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12</a:t>
            </a:r>
          </a:p>
        </p:txBody>
      </p:sp>
      <p:sp>
        <p:nvSpPr>
          <p:cNvPr id="4" name="Un calcul traçable sur 109 224 accidents">
            <a:extLst xmlns:a="http://schemas.openxmlformats.org/drawingml/2006/main">
              <a:ext uri="{FF2B5EF4-FFF2-40B4-BE49-F238E27FC236}">
                <a16:creationId xmlns:a16="http://schemas.microsoft.com/office/drawing/2014/main" id="{0C9D5B90-F262-46E9-A1F4-0999AB2B6437}"/>
              </a:ext>
            </a:extLst>
          </p:cNvPr>
          <p:cNvSpPr>
            <a:spLocks xmlns:a="http://schemas.openxmlformats.org/drawingml/2006/main" noGrp="1"/>
          </p:cNvSpPr>
          <p:nvPr/>
        </p:nvSpPr>
        <p:spPr>
          <a:xfrm xmlns:a="http://schemas.openxmlformats.org/drawingml/2006/main">
            <a:off x="685800" y="16097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63E39"/>
                </a:solidFill>
                <a:latin typeface="Calibri"/>
                <a:ea typeface="Calibri"/>
                <a:cs typeface="Calibri"/>
              </a:defRPr>
            </a:defPPr>
          </a:lstStyle>
          <a:p xmlns:a="http://schemas.openxmlformats.org/drawingml/2006/main">
            <a:pPr algn="l">
              <a:defRPr sz="3300" b="1">
                <a:solidFill>
                  <a:srgbClr val="163E39"/>
                </a:solidFill>
                <a:latin typeface="Calibri"/>
                <a:ea typeface="Calibri"/>
                <a:cs typeface="Calibri"/>
              </a:defRPr>
            </a:pPr>
            <a:r>
              <a:rPr sz="3300" b="1">
                <a:solidFill>
                  <a:srgbClr val="163E39"/>
                </a:solidFill>
                <a:latin typeface="Calibri"/>
                <a:ea typeface="Calibri"/>
                <a:cs typeface="Calibri"/>
              </a:rPr>
              <a:t>Un calcul traçable sur 109 224 accidents</a:t>
            </a:r>
          </a:p>
        </p:txBody>
      </p:sp>
      <p:sp>
        <p:nvSpPr>
          <p:cNvPr id="5" name="Les anomalies connues ne retirent aucun accident du KPI.&#10;Les com">
            <a:extLst xmlns:a="http://schemas.openxmlformats.org/drawingml/2006/main">
              <a:ext uri="{FF2B5EF4-FFF2-40B4-BE49-F238E27FC236}">
                <a16:creationId xmlns:a16="http://schemas.microsoft.com/office/drawing/2014/main" id="{E104B943-DA52-4452-BF6A-13CB8CAF7C29}"/>
              </a:ext>
            </a:extLst>
          </p:cNvPr>
          <p:cNvSpPr>
            <a:spLocks xmlns:a="http://schemas.openxmlformats.org/drawingml/2006/main" noGrp="1"/>
          </p:cNvSpPr>
          <p:nvPr/>
        </p:nvSpPr>
        <p:spPr>
          <a:xfrm xmlns:a="http://schemas.openxmlformats.org/drawingml/2006/main">
            <a:off x="685800" y="27622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0">
                <a:solidFill>
                  <a:srgbClr val="61756F"/>
                </a:solidFill>
                <a:latin typeface="Calibri"/>
                <a:ea typeface="Calibri"/>
                <a:cs typeface="Calibri"/>
              </a:defRPr>
            </a:defPPr>
          </a:lstStyle>
          <a:p xmlns:a="http://schemas.openxmlformats.org/drawingml/2006/main">
            <a:pPr algn="l">
              <a:defRPr sz="2325" b="0">
                <a:solidFill>
                  <a:srgbClr val="61756F"/>
                </a:solidFill>
                <a:latin typeface="Calibri"/>
                <a:ea typeface="Calibri"/>
                <a:cs typeface="Calibri"/>
              </a:defRPr>
            </a:pPr>
            <a:r>
              <a:rPr sz="2325" b="0">
                <a:solidFill>
                  <a:srgbClr val="61756F"/>
                </a:solidFill>
                <a:latin typeface="Calibri"/>
                <a:ea typeface="Calibri"/>
                <a:cs typeface="Calibri"/>
              </a:rPr>
              <a:t>Les anomalies connues ne retirent aucun accident du KPI.</a:t>
            </a:r>
          </a:p>
          <a:p xmlns:a="http://schemas.openxmlformats.org/drawingml/2006/main">
            <a:pPr algn="l">
              <a:defRPr sz="2325" b="0">
                <a:solidFill>
                  <a:srgbClr val="61756F"/>
                </a:solidFill>
                <a:latin typeface="Calibri"/>
                <a:ea typeface="Calibri"/>
                <a:cs typeface="Calibri"/>
              </a:defRPr>
            </a:pPr>
            <a:r>
              <a:rPr sz="2325" b="0">
                <a:solidFill>
                  <a:srgbClr val="61756F"/>
                </a:solidFill>
                <a:latin typeface="Calibri"/>
                <a:ea typeface="Calibri"/>
                <a:cs typeface="Calibri"/>
              </a:rPr>
              <a:t>Les comparaisons restent descriptives.</a:t>
            </a:r>
          </a:p>
        </p:txBody>
      </p:sp>
      <p:sp>
        <p:nvSpPr>
          <p:cNvPr id="6" name="Pour préparer la publication">
            <a:extLst xmlns:a="http://schemas.openxmlformats.org/drawingml/2006/main">
              <a:ext uri="{FF2B5EF4-FFF2-40B4-BE49-F238E27FC236}">
                <a16:creationId xmlns:a16="http://schemas.microsoft.com/office/drawing/2014/main" id="{0ECD0CB9-3370-488C-92A2-02DDCDC9F44F}"/>
              </a:ext>
            </a:extLst>
          </p:cNvPr>
          <p:cNvSpPr>
            <a:spLocks xmlns:a="http://schemas.openxmlformats.org/drawingml/2006/main" noGrp="1"/>
          </p:cNvSpPr>
          <p:nvPr/>
        </p:nvSpPr>
        <p:spPr>
          <a:xfrm xmlns:a="http://schemas.openxmlformats.org/drawingml/2006/main">
            <a:off x="685800" y="4095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63E39"/>
                </a:solidFill>
                <a:latin typeface="Calibri"/>
                <a:ea typeface="Calibri"/>
                <a:cs typeface="Calibri"/>
              </a:defRPr>
            </a:defPPr>
          </a:lstStyle>
          <a:p xmlns:a="http://schemas.openxmlformats.org/drawingml/2006/main">
            <a:pPr algn="l">
              <a:defRPr sz="2400" b="1">
                <a:solidFill>
                  <a:srgbClr val="163E39"/>
                </a:solidFill>
                <a:latin typeface="Calibri"/>
                <a:ea typeface="Calibri"/>
                <a:cs typeface="Calibri"/>
              </a:defRPr>
            </a:pPr>
            <a:r>
              <a:rPr sz="2400" b="1">
                <a:solidFill>
                  <a:srgbClr val="163E39"/>
                </a:solidFill>
                <a:latin typeface="Calibri"/>
                <a:ea typeface="Calibri"/>
                <a:cs typeface="Calibri"/>
              </a:rPr>
              <a:t>Pour préparer la publication</a:t>
            </a:r>
          </a:p>
        </p:txBody>
      </p:sp>
      <p:sp>
        <p:nvSpPr>
          <p:cNvPr id="7" name="1   Obtenir les références mensuelles et les preuves de complétu">
            <a:extLst xmlns:a="http://schemas.openxmlformats.org/drawingml/2006/main">
              <a:ext uri="{FF2B5EF4-FFF2-40B4-BE49-F238E27FC236}">
                <a16:creationId xmlns:a16="http://schemas.microsoft.com/office/drawing/2014/main" id="{8C24FD4A-8EEA-4EF1-AD35-85F7B30E09AA}"/>
              </a:ext>
            </a:extLst>
          </p:cNvPr>
          <p:cNvSpPr>
            <a:spLocks xmlns:a="http://schemas.openxmlformats.org/drawingml/2006/main" noGrp="1"/>
          </p:cNvSpPr>
          <p:nvPr/>
        </p:nvSpPr>
        <p:spPr>
          <a:xfrm xmlns:a="http://schemas.openxmlformats.org/drawingml/2006/main">
            <a:off x="685800" y="46863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63E39"/>
                </a:solidFill>
                <a:latin typeface="Calibri"/>
                <a:ea typeface="Calibri"/>
                <a:cs typeface="Calibri"/>
              </a:defRPr>
            </a:defPPr>
          </a:lstStyle>
          <a:p xmlns:a="http://schemas.openxmlformats.org/drawingml/2006/main">
            <a:pPr algn="l">
              <a:defRPr sz="2025" b="0">
                <a:solidFill>
                  <a:srgbClr val="163E39"/>
                </a:solidFill>
                <a:latin typeface="Calibri"/>
                <a:ea typeface="Calibri"/>
                <a:cs typeface="Calibri"/>
              </a:defRPr>
            </a:pPr>
            <a:r>
              <a:rPr sz="2025" b="0">
                <a:solidFill>
                  <a:srgbClr val="163E39"/>
                </a:solidFill>
                <a:latin typeface="Calibri"/>
                <a:ea typeface="Calibri"/>
                <a:cs typeface="Calibri"/>
              </a:rPr>
              <a:t>1   Obtenir les références mensuelles et les preuves de complétude.</a:t>
            </a:r>
          </a:p>
        </p:txBody>
      </p:sp>
      <p:sp>
        <p:nvSpPr>
          <p:cNvPr id="8" name="2   Faire vérifier les 118 gravités inconnues à la source.">
            <a:extLst xmlns:a="http://schemas.openxmlformats.org/drawingml/2006/main">
              <a:ext uri="{FF2B5EF4-FFF2-40B4-BE49-F238E27FC236}">
                <a16:creationId xmlns:a16="http://schemas.microsoft.com/office/drawing/2014/main" id="{4B8FA646-F464-4AD0-B931-D289218410B7}"/>
              </a:ext>
            </a:extLst>
          </p:cNvPr>
          <p:cNvSpPr>
            <a:spLocks xmlns:a="http://schemas.openxmlformats.org/drawingml/2006/main" noGrp="1"/>
          </p:cNvSpPr>
          <p:nvPr/>
        </p:nvSpPr>
        <p:spPr>
          <a:xfrm xmlns:a="http://schemas.openxmlformats.org/drawingml/2006/main">
            <a:off x="685800" y="52101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63E39"/>
                </a:solidFill>
                <a:latin typeface="Calibri"/>
                <a:ea typeface="Calibri"/>
                <a:cs typeface="Calibri"/>
              </a:defRPr>
            </a:defPPr>
          </a:lstStyle>
          <a:p xmlns:a="http://schemas.openxmlformats.org/drawingml/2006/main">
            <a:pPr algn="l">
              <a:defRPr sz="2025" b="0">
                <a:solidFill>
                  <a:srgbClr val="163E39"/>
                </a:solidFill>
                <a:latin typeface="Calibri"/>
                <a:ea typeface="Calibri"/>
                <a:cs typeface="Calibri"/>
              </a:defRPr>
            </a:pPr>
            <a:r>
              <a:rPr sz="2025" b="0">
                <a:solidFill>
                  <a:srgbClr val="163E39"/>
                </a:solidFill>
                <a:latin typeface="Calibri"/>
                <a:ea typeface="Calibri"/>
                <a:cs typeface="Calibri"/>
              </a:rPr>
              <a:t>2   Faire vérifier les 118 gravités inconnues à la source.</a:t>
            </a:r>
          </a:p>
        </p:txBody>
      </p:sp>
      <p:sp>
        <p:nvSpPr>
          <p:cNvPr id="9" name="3   Relancer le calcul et documenter le rapprochement.">
            <a:extLst xmlns:a="http://schemas.openxmlformats.org/drawingml/2006/main">
              <a:ext uri="{FF2B5EF4-FFF2-40B4-BE49-F238E27FC236}">
                <a16:creationId xmlns:a16="http://schemas.microsoft.com/office/drawing/2014/main" id="{8E1F9100-7553-4B1F-9C82-CD5CF96E8203}"/>
              </a:ext>
            </a:extLst>
          </p:cNvPr>
          <p:cNvSpPr>
            <a:spLocks xmlns:a="http://schemas.openxmlformats.org/drawingml/2006/main" noGrp="1"/>
          </p:cNvSpPr>
          <p:nvPr/>
        </p:nvSpPr>
        <p:spPr>
          <a:xfrm xmlns:a="http://schemas.openxmlformats.org/drawingml/2006/main">
            <a:off x="685800" y="573405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63E39"/>
                </a:solidFill>
                <a:latin typeface="Calibri"/>
                <a:ea typeface="Calibri"/>
                <a:cs typeface="Calibri"/>
              </a:defRPr>
            </a:defPPr>
          </a:lstStyle>
          <a:p xmlns:a="http://schemas.openxmlformats.org/drawingml/2006/main">
            <a:pPr algn="l">
              <a:defRPr sz="2025" b="0">
                <a:solidFill>
                  <a:srgbClr val="163E39"/>
                </a:solidFill>
                <a:latin typeface="Calibri"/>
                <a:ea typeface="Calibri"/>
                <a:cs typeface="Calibri"/>
              </a:defRPr>
            </a:pPr>
            <a:r>
              <a:rPr sz="2025" b="0">
                <a:solidFill>
                  <a:srgbClr val="163E39"/>
                </a:solidFill>
                <a:latin typeface="Calibri"/>
                <a:ea typeface="Calibri"/>
                <a:cs typeface="Calibri"/>
              </a:rPr>
              <a:t>3   Relancer le calcul et documenter le rapprochement.</a:t>
            </a:r>
          </a:p>
        </p:txBody>
      </p:sp>
    </p:spTree>
    <p:extLst>
      <p:ext uri="{BB962C8B-B14F-4D97-AF65-F5344CB8AC3E}">
        <p14:creationId xmlns:p14="http://schemas.microsoft.com/office/powerpoint/2010/main" val="704675353"/>
      </p:ext>
    </p:extLst>
  </p:cSld>
</p:sld>
</file>

<file path=ppt/slides/slide13.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5" name="Annexe : détail mensuel">
            <a:extLst xmlns:a="http://schemas.openxmlformats.org/drawingml/2006/main">
              <a:ext uri="{FF2B5EF4-FFF2-40B4-BE49-F238E27FC236}">
                <a16:creationId xmlns:a16="http://schemas.microsoft.com/office/drawing/2014/main" id="{8C78E8F8-7ADF-40D8-9D9A-2A24D0E8713A}"/>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450" b="1">
                <a:solidFill>
                  <a:srgbClr val="163E39"/>
                </a:solidFill>
                <a:latin typeface="Calibri"/>
                <a:ea typeface="Calibri"/>
                <a:cs typeface="Calibri"/>
              </a:defRPr>
            </a:defPPr>
          </a:lstStyle>
          <a:p xmlns:a="http://schemas.openxmlformats.org/drawingml/2006/main">
            <a:pPr algn="l">
              <a:defRPr sz="3450" b="1">
                <a:solidFill>
                  <a:srgbClr val="163E39"/>
                </a:solidFill>
                <a:latin typeface="Calibri"/>
                <a:ea typeface="Calibri"/>
                <a:cs typeface="Calibri"/>
              </a:defRPr>
            </a:pPr>
            <a:r>
              <a:rPr sz="3450" b="1">
                <a:solidFill>
                  <a:srgbClr val="163E39"/>
                </a:solidFill>
                <a:latin typeface="Calibri"/>
                <a:ea typeface="Calibri"/>
                <a:cs typeface="Calibri"/>
              </a:rPr>
              <a:t>Annexe : détail mensuel</a:t>
            </a:r>
          </a:p>
        </p:txBody>
      </p:sp>
      <p:sp>
        <p:nvSpPr>
          <p:cNvPr id="2" name="Source : accident.ipynb, tableau mensuel. Annexe hors des 15 min">
            <a:extLst xmlns:a="http://schemas.openxmlformats.org/drawingml/2006/main">
              <a:ext uri="{FF2B5EF4-FFF2-40B4-BE49-F238E27FC236}">
                <a16:creationId xmlns:a16="http://schemas.microsoft.com/office/drawing/2014/main" id="{04B00BF3-F5F6-4986-AD1C-0ABD76602276}"/>
              </a:ext>
            </a:extLst>
          </p:cNvPr>
          <p:cNvSpPr>
            <a:spLocks xmlns:a="http://schemas.openxmlformats.org/drawingml/2006/main" noGrp="1"/>
          </p:cNvSpPr>
          <p:nvPr/>
        </p:nvSpPr>
        <p:spPr>
          <a:xfrm xmlns:a="http://schemas.openxmlformats.org/drawingml/2006/main">
            <a:off x="685800" y="64008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125" b="0">
                <a:solidFill>
                  <a:srgbClr val="61756F"/>
                </a:solidFill>
                <a:latin typeface="Calibri"/>
                <a:ea typeface="Calibri"/>
                <a:cs typeface="Calibri"/>
              </a:defRPr>
            </a:defPPr>
          </a:lstStyle>
          <a:p xmlns:a="http://schemas.openxmlformats.org/drawingml/2006/main">
            <a:pPr algn="l">
              <a:defRPr sz="1125" b="0">
                <a:solidFill>
                  <a:srgbClr val="61756F"/>
                </a:solidFill>
                <a:latin typeface="Calibri"/>
                <a:ea typeface="Calibri"/>
                <a:cs typeface="Calibri"/>
              </a:defRPr>
            </a:pPr>
            <a:r>
              <a:rPr sz="1125" b="0">
                <a:solidFill>
                  <a:srgbClr val="61756F"/>
                </a:solidFill>
                <a:latin typeface="Calibri"/>
                <a:ea typeface="Calibri"/>
                <a:cs typeface="Calibri"/>
              </a:rPr>
              <a:t>Source : accident.ipynb, tableau mensuel. Annexe hors des 15 minutes.</a:t>
            </a:r>
          </a:p>
        </p:txBody>
      </p:sp>
      <p:sp>
        <p:nvSpPr>
          <p:cNvPr id="3" name="Annexe">
            <a:extLst xmlns:a="http://schemas.openxmlformats.org/drawingml/2006/main">
              <a:ext uri="{FF2B5EF4-FFF2-40B4-BE49-F238E27FC236}">
                <a16:creationId xmlns:a16="http://schemas.microsoft.com/office/drawing/2014/main" id="{6426F82D-E334-4B18-8321-3BC29F028B8E}"/>
              </a:ext>
            </a:extLst>
          </p:cNvPr>
          <p:cNvSpPr>
            <a:spLocks xmlns:a="http://schemas.openxmlformats.org/drawingml/2006/main" noGrp="1"/>
          </p:cNvSpPr>
          <p:nvPr/>
        </p:nvSpPr>
        <p:spPr>
          <a:xfrm xmlns:a="http://schemas.openxmlformats.org/drawingml/2006/main">
            <a:off x="1047750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61756F"/>
                </a:solidFill>
                <a:latin typeface="Calibri"/>
                <a:ea typeface="Calibri"/>
                <a:cs typeface="Calibri"/>
              </a:defRPr>
            </a:defPPr>
          </a:lstStyle>
          <a:p xmlns:a="http://schemas.openxmlformats.org/drawingml/2006/main">
            <a:pPr algn="r">
              <a:defRPr sz="1200" b="0">
                <a:solidFill>
                  <a:srgbClr val="61756F"/>
                </a:solidFill>
                <a:latin typeface="Calibri"/>
                <a:ea typeface="Calibri"/>
                <a:cs typeface="Calibri"/>
              </a:defRPr>
            </a:pPr>
            <a:r>
              <a:rPr sz="1200" b="0">
                <a:solidFill>
                  <a:srgbClr val="61756F"/>
                </a:solidFill>
                <a:latin typeface="Calibri"/>
                <a:ea typeface="Calibri"/>
                <a:cs typeface="Calibri"/>
              </a:rPr>
              <a:t>Annexe</a:t>
            </a:r>
          </a:p>
        </p:txBody>
      </p:sp>
      <p:graphicFrame>
        <p:nvGraphicFramePr>
          <p:cNvPr id="4" name="">
            <a:extLst xmlns:a="http://schemas.openxmlformats.org/drawingml/2006/main">
              <a:ext uri="{FF2B5EF4-FFF2-40B4-BE49-F238E27FC236}">
                <a16:creationId xmlns:a16="http://schemas.microsoft.com/office/drawing/2014/main" id="{11786E3D-6BDF-48E6-898D-8CFD0E3F290D}"/>
              </a:ext>
            </a:extLst>
          </p:cNvPr>
          <p:cNvGraphicFramePr/>
          <p:nvPr/>
        </p:nvGraphicFramePr>
        <p:xfrm>
          <a:off xmlns:a="http://schemas.openxmlformats.org/drawingml/2006/main" x="685800" y="1476375"/>
          <a:ext xmlns:a="http://schemas.openxmlformats.org/drawingml/2006/main" cx="10820400" cy="4629150"/>
        </p:xfrm>
        <a:graphic xmlns:a="http://schemas.openxmlformats.org/drawingml/2006/main">
          <a:graphicData uri="http://schemas.openxmlformats.org/drawingml/2006/table">
            <a:tbl>
              <a:tblPr/>
              <a:tblGrid>
                <a:gridCol w="1866900"/>
                <a:gridCol w="1790700"/>
                <a:gridCol w="1790700"/>
                <a:gridCol w="1790700"/>
                <a:gridCol w="1790700"/>
                <a:gridCol w="1790700"/>
              </a:tblGrid>
              <a:tr h="514350">
                <a:tc>
                  <a:txBody>
                    <a:bodyPr/>
                    <a:lstStyle/>
                    <a:p>
                      <a:r>
                        <a:rPr sz="1500" b="1">
                          <a:solidFill>
                            <a:srgbClr val="FFFFFF"/>
                          </a:solidFill>
                          <a:latin typeface="Calibri"/>
                          <a:ea typeface="Calibri"/>
                          <a:cs typeface="Calibri"/>
                        </a:rPr>
                        <a:t>Mois</a:t>
                      </a:r>
                    </a:p>
                  </a:txBody>
                  <a:tcPr marL="133350" marR="95250" marT="28575" marB="28575" anchor="ctr">
                    <a:lnL w="19050">
                      <a:solidFill>
                        <a:srgbClr val="F5F4EE"/>
                      </a:solidFill>
                    </a:lnL>
                    <a:lnR w="19050">
                      <a:solidFill>
                        <a:srgbClr val="F5F4EE"/>
                      </a:solidFill>
                    </a:lnR>
                    <a:lnT w="19050">
                      <a:solidFill>
                        <a:srgbClr val="F5F4EE"/>
                      </a:solidFill>
                    </a:lnT>
                    <a:lnB w="19050">
                      <a:solidFill>
                        <a:srgbClr val="F5F4EE"/>
                      </a:solidFill>
                    </a:lnB>
                    <a:solidFill>
                      <a:srgbClr val="163E39"/>
                    </a:solidFill>
                  </a:tcPr>
                </a:tc>
                <a:tc>
                  <a:txBody>
                    <a:bodyPr/>
                    <a:lstStyle/>
                    <a:p>
                      <a:r>
                        <a:rPr sz="1500" b="1">
                          <a:solidFill>
                            <a:srgbClr val="FFFFFF"/>
                          </a:solidFill>
                          <a:latin typeface="Calibri"/>
                          <a:ea typeface="Calibri"/>
                          <a:cs typeface="Calibri"/>
                        </a:rPr>
                        <a:t>Accidents</a:t>
                      </a:r>
                    </a:p>
                    <a:p>
                      <a:r>
                        <a:rPr sz="1500" b="1">
                          <a:solidFill>
                            <a:srgbClr val="FFFFFF"/>
                          </a:solidFill>
                          <a:latin typeface="Calibri"/>
                          <a:ea typeface="Calibri"/>
                          <a:cs typeface="Calibri"/>
                        </a:rPr>
                        <a:t>2023</a:t>
                      </a:r>
                    </a:p>
                  </a:txBody>
                  <a:tcPr marL="133350" marR="95250" marT="28575" marB="28575" anchor="ctr">
                    <a:lnR w="19050">
                      <a:solidFill>
                        <a:srgbClr val="F5F4EE"/>
                      </a:solidFill>
                    </a:lnR>
                    <a:lnT w="19050">
                      <a:solidFill>
                        <a:srgbClr val="F5F4EE"/>
                      </a:solidFill>
                    </a:lnT>
                    <a:lnB w="19050">
                      <a:solidFill>
                        <a:srgbClr val="F5F4EE"/>
                      </a:solidFill>
                    </a:lnB>
                    <a:solidFill>
                      <a:srgbClr val="163E39"/>
                    </a:solidFill>
                  </a:tcPr>
                </a:tc>
                <a:tc>
                  <a:txBody>
                    <a:bodyPr/>
                    <a:lstStyle/>
                    <a:p>
                      <a:r>
                        <a:rPr sz="1500" b="1">
                          <a:solidFill>
                            <a:srgbClr val="FFFFFF"/>
                          </a:solidFill>
                          <a:latin typeface="Calibri"/>
                          <a:ea typeface="Calibri"/>
                          <a:cs typeface="Calibri"/>
                        </a:rPr>
                        <a:t>Accidents</a:t>
                      </a:r>
                    </a:p>
                    <a:p>
                      <a:r>
                        <a:rPr sz="1500" b="1">
                          <a:solidFill>
                            <a:srgbClr val="FFFFFF"/>
                          </a:solidFill>
                          <a:latin typeface="Calibri"/>
                          <a:ea typeface="Calibri"/>
                          <a:cs typeface="Calibri"/>
                        </a:rPr>
                        <a:t>2024</a:t>
                      </a:r>
                    </a:p>
                  </a:txBody>
                  <a:tcPr marL="133350" marR="95250" marT="28575" marB="28575" anchor="ctr">
                    <a:lnR w="19050">
                      <a:solidFill>
                        <a:srgbClr val="F5F4EE"/>
                      </a:solidFill>
                    </a:lnR>
                    <a:lnT w="19050">
                      <a:solidFill>
                        <a:srgbClr val="F5F4EE"/>
                      </a:solidFill>
                    </a:lnT>
                    <a:lnB w="19050">
                      <a:solidFill>
                        <a:srgbClr val="F5F4EE"/>
                      </a:solidFill>
                    </a:lnB>
                    <a:solidFill>
                      <a:srgbClr val="163E39"/>
                    </a:solidFill>
                  </a:tcPr>
                </a:tc>
                <a:tc>
                  <a:txBody>
                    <a:bodyPr/>
                    <a:lstStyle/>
                    <a:p>
                      <a:r>
                        <a:rPr sz="1500" b="1">
                          <a:solidFill>
                            <a:srgbClr val="FFFFFF"/>
                          </a:solidFill>
                          <a:latin typeface="Calibri"/>
                          <a:ea typeface="Calibri"/>
                          <a:cs typeface="Calibri"/>
                        </a:rPr>
                        <a:t>Écart</a:t>
                      </a:r>
                    </a:p>
                    <a:p>
                      <a:r>
                        <a:rPr sz="1500" b="1">
                          <a:solidFill>
                            <a:srgbClr val="FFFFFF"/>
                          </a:solidFill>
                          <a:latin typeface="Calibri"/>
                          <a:ea typeface="Calibri"/>
                          <a:cs typeface="Calibri"/>
                        </a:rPr>
                        <a:t>2024 / 2023</a:t>
                      </a:r>
                    </a:p>
                  </a:txBody>
                  <a:tcPr marL="133350" marR="95250" marT="28575" marB="28575" anchor="ctr">
                    <a:lnR w="19050">
                      <a:solidFill>
                        <a:srgbClr val="F5F4EE"/>
                      </a:solidFill>
                    </a:lnR>
                    <a:lnT w="19050">
                      <a:solidFill>
                        <a:srgbClr val="F5F4EE"/>
                      </a:solidFill>
                    </a:lnT>
                    <a:lnB w="19050">
                      <a:solidFill>
                        <a:srgbClr val="F5F4EE"/>
                      </a:solidFill>
                    </a:lnB>
                    <a:solidFill>
                      <a:srgbClr val="163E39"/>
                    </a:solidFill>
                  </a:tcPr>
                </a:tc>
                <a:tc>
                  <a:txBody>
                    <a:bodyPr/>
                    <a:lstStyle/>
                    <a:p>
                      <a:r>
                        <a:rPr sz="1500" b="1">
                          <a:solidFill>
                            <a:srgbClr val="FFFFFF"/>
                          </a:solidFill>
                          <a:latin typeface="Calibri"/>
                          <a:ea typeface="Calibri"/>
                          <a:cs typeface="Calibri"/>
                        </a:rPr>
                        <a:t>Avec tué</a:t>
                      </a:r>
                    </a:p>
                    <a:p>
                      <a:r>
                        <a:rPr sz="1500" b="1">
                          <a:solidFill>
                            <a:srgbClr val="FFFFFF"/>
                          </a:solidFill>
                          <a:latin typeface="Calibri"/>
                          <a:ea typeface="Calibri"/>
                          <a:cs typeface="Calibri"/>
                        </a:rPr>
                        <a:t>2023</a:t>
                      </a:r>
                    </a:p>
                  </a:txBody>
                  <a:tcPr marL="133350" marR="95250" marT="28575" marB="28575" anchor="ctr">
                    <a:lnR w="19050">
                      <a:solidFill>
                        <a:srgbClr val="F5F4EE"/>
                      </a:solidFill>
                    </a:lnR>
                    <a:lnT w="19050">
                      <a:solidFill>
                        <a:srgbClr val="F5F4EE"/>
                      </a:solidFill>
                    </a:lnT>
                    <a:lnB w="19050">
                      <a:solidFill>
                        <a:srgbClr val="F5F4EE"/>
                      </a:solidFill>
                    </a:lnB>
                    <a:solidFill>
                      <a:srgbClr val="163E39"/>
                    </a:solidFill>
                  </a:tcPr>
                </a:tc>
                <a:tc>
                  <a:txBody>
                    <a:bodyPr/>
                    <a:lstStyle/>
                    <a:p>
                      <a:r>
                        <a:rPr sz="1500" b="1">
                          <a:solidFill>
                            <a:srgbClr val="FFFFFF"/>
                          </a:solidFill>
                          <a:latin typeface="Calibri"/>
                          <a:ea typeface="Calibri"/>
                          <a:cs typeface="Calibri"/>
                        </a:rPr>
                        <a:t>Avec tué</a:t>
                      </a:r>
                    </a:p>
                    <a:p>
                      <a:r>
                        <a:rPr sz="1500" b="1">
                          <a:solidFill>
                            <a:srgbClr val="FFFFFF"/>
                          </a:solidFill>
                          <a:latin typeface="Calibri"/>
                          <a:ea typeface="Calibri"/>
                          <a:cs typeface="Calibri"/>
                        </a:rPr>
                        <a:t>2024</a:t>
                      </a:r>
                    </a:p>
                  </a:txBody>
                  <a:tcPr marL="133350" marR="95250" marT="28575" marB="28575" anchor="ctr">
                    <a:lnR w="19050">
                      <a:solidFill>
                        <a:srgbClr val="F5F4EE"/>
                      </a:solidFill>
                    </a:lnR>
                    <a:lnT w="19050">
                      <a:solidFill>
                        <a:srgbClr val="F5F4EE"/>
                      </a:solidFill>
                    </a:lnT>
                    <a:lnB w="19050">
                      <a:solidFill>
                        <a:srgbClr val="F5F4EE"/>
                      </a:solidFill>
                    </a:lnB>
                    <a:solidFill>
                      <a:srgbClr val="163E39"/>
                    </a:solidFill>
                  </a:tcPr>
                </a:tc>
              </a:tr>
              <a:tr h="342900">
                <a:tc>
                  <a:txBody>
                    <a:bodyPr/>
                    <a:lstStyle/>
                    <a:p>
                      <a:r>
                        <a:rPr sz="1500" b="0">
                          <a:solidFill>
                            <a:srgbClr val="163E39"/>
                          </a:solidFill>
                          <a:latin typeface="Calibri"/>
                          <a:ea typeface="Calibri"/>
                          <a:cs typeface="Calibri"/>
                        </a:rPr>
                        <a:t>Janvier</a:t>
                      </a:r>
                    </a:p>
                  </a:txBody>
                  <a:tcPr marL="133350" marR="95250" marT="28575" marB="28575"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4 053</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4 069</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+0,4 %</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232</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251</a:t>
                      </a:r>
                    </a:p>
                  </a:txBody>
                  <a:tcPr marL="133350" marR="95250" marT="28575" marB="28575" anchor="ctr">
                    <a:lnR w="19050">
                      <a:solidFill>
                        <a:srgbClr val="F5F4EE"/>
                      </a:solidFill>
                    </a:lnR>
                    <a:lnB w="19050">
                      <a:solidFill>
                        <a:srgbClr val="F5F4EE"/>
                      </a:solidFill>
                    </a:lnB>
                    <a:solidFill>
                      <a:srgbClr val="F5F4EE"/>
                    </a:solidFill>
                  </a:tcPr>
                </a:tc>
              </a:tr>
              <a:tr h="342900">
                <a:tc>
                  <a:txBody>
                    <a:bodyPr/>
                    <a:lstStyle/>
                    <a:p>
                      <a:r>
                        <a:rPr sz="1500" b="0">
                          <a:solidFill>
                            <a:srgbClr val="163E39"/>
                          </a:solidFill>
                          <a:latin typeface="Calibri"/>
                          <a:ea typeface="Calibri"/>
                          <a:cs typeface="Calibri"/>
                        </a:rPr>
                        <a:t>Février</a:t>
                      </a:r>
                    </a:p>
                  </a:txBody>
                  <a:tcPr marL="133350" marR="95250" marT="28575" marB="28575"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3 682</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3 792</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+3,0 %</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219</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221</a:t>
                      </a:r>
                    </a:p>
                  </a:txBody>
                  <a:tcPr marL="133350" marR="95250" marT="28575" marB="28575" anchor="ctr">
                    <a:lnR w="19050">
                      <a:solidFill>
                        <a:srgbClr val="F5F4EE"/>
                      </a:solidFill>
                    </a:lnR>
                    <a:lnB w="19050">
                      <a:solidFill>
                        <a:srgbClr val="F5F4EE"/>
                      </a:solidFill>
                    </a:lnB>
                    <a:solidFill>
                      <a:srgbClr val="E7EEE7"/>
                    </a:solidFill>
                  </a:tcPr>
                </a:tc>
              </a:tr>
              <a:tr h="342900">
                <a:tc>
                  <a:txBody>
                    <a:bodyPr/>
                    <a:lstStyle/>
                    <a:p>
                      <a:r>
                        <a:rPr sz="1500" b="0">
                          <a:solidFill>
                            <a:srgbClr val="163E39"/>
                          </a:solidFill>
                          <a:latin typeface="Calibri"/>
                          <a:ea typeface="Calibri"/>
                          <a:cs typeface="Calibri"/>
                        </a:rPr>
                        <a:t>Mars</a:t>
                      </a:r>
                    </a:p>
                  </a:txBody>
                  <a:tcPr marL="133350" marR="95250" marT="28575" marB="28575"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3 998</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4 370</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+9,3 %</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212</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255</a:t>
                      </a:r>
                    </a:p>
                  </a:txBody>
                  <a:tcPr marL="133350" marR="95250" marT="28575" marB="28575" anchor="ctr">
                    <a:lnR w="19050">
                      <a:solidFill>
                        <a:srgbClr val="F5F4EE"/>
                      </a:solidFill>
                    </a:lnR>
                    <a:lnB w="19050">
                      <a:solidFill>
                        <a:srgbClr val="F5F4EE"/>
                      </a:solidFill>
                    </a:lnB>
                    <a:solidFill>
                      <a:srgbClr val="F5F4EE"/>
                    </a:solidFill>
                  </a:tcPr>
                </a:tc>
              </a:tr>
              <a:tr h="342900">
                <a:tc>
                  <a:txBody>
                    <a:bodyPr/>
                    <a:lstStyle/>
                    <a:p>
                      <a:r>
                        <a:rPr sz="1500" b="0">
                          <a:solidFill>
                            <a:srgbClr val="163E39"/>
                          </a:solidFill>
                          <a:latin typeface="Calibri"/>
                          <a:ea typeface="Calibri"/>
                          <a:cs typeface="Calibri"/>
                        </a:rPr>
                        <a:t>Avril</a:t>
                      </a:r>
                    </a:p>
                  </a:txBody>
                  <a:tcPr marL="133350" marR="95250" marT="28575" marB="28575"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4 162</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4 586</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+10,2 %</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224</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244</a:t>
                      </a:r>
                    </a:p>
                  </a:txBody>
                  <a:tcPr marL="133350" marR="95250" marT="28575" marB="28575" anchor="ctr">
                    <a:lnR w="19050">
                      <a:solidFill>
                        <a:srgbClr val="F5F4EE"/>
                      </a:solidFill>
                    </a:lnR>
                    <a:lnB w="19050">
                      <a:solidFill>
                        <a:srgbClr val="F5F4EE"/>
                      </a:solidFill>
                    </a:lnB>
                    <a:solidFill>
                      <a:srgbClr val="E7EEE7"/>
                    </a:solidFill>
                  </a:tcPr>
                </a:tc>
              </a:tr>
              <a:tr h="342900">
                <a:tc>
                  <a:txBody>
                    <a:bodyPr/>
                    <a:lstStyle/>
                    <a:p>
                      <a:r>
                        <a:rPr sz="1500" b="0">
                          <a:solidFill>
                            <a:srgbClr val="163E39"/>
                          </a:solidFill>
                          <a:latin typeface="Calibri"/>
                          <a:ea typeface="Calibri"/>
                          <a:cs typeface="Calibri"/>
                        </a:rPr>
                        <a:t>Mai</a:t>
                      </a:r>
                    </a:p>
                  </a:txBody>
                  <a:tcPr marL="133350" marR="95250" marT="28575" marB="28575"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4 767</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4 517</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-5,2 %</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250</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248</a:t>
                      </a:r>
                    </a:p>
                  </a:txBody>
                  <a:tcPr marL="133350" marR="95250" marT="28575" marB="28575" anchor="ctr">
                    <a:lnR w="19050">
                      <a:solidFill>
                        <a:srgbClr val="F5F4EE"/>
                      </a:solidFill>
                    </a:lnR>
                    <a:lnB w="19050">
                      <a:solidFill>
                        <a:srgbClr val="F5F4EE"/>
                      </a:solidFill>
                    </a:lnB>
                    <a:solidFill>
                      <a:srgbClr val="F5F4EE"/>
                    </a:solidFill>
                  </a:tcPr>
                </a:tc>
              </a:tr>
              <a:tr h="342900">
                <a:tc>
                  <a:txBody>
                    <a:bodyPr/>
                    <a:lstStyle/>
                    <a:p>
                      <a:r>
                        <a:rPr sz="1500" b="0">
                          <a:solidFill>
                            <a:srgbClr val="163E39"/>
                          </a:solidFill>
                          <a:latin typeface="Calibri"/>
                          <a:ea typeface="Calibri"/>
                          <a:cs typeface="Calibri"/>
                        </a:rPr>
                        <a:t>Juin</a:t>
                      </a:r>
                    </a:p>
                  </a:txBody>
                  <a:tcPr marL="133350" marR="95250" marT="28575" marB="28575"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5 452</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5 135</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-5,8 %</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287</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283</a:t>
                      </a:r>
                    </a:p>
                  </a:txBody>
                  <a:tcPr marL="133350" marR="95250" marT="28575" marB="28575" anchor="ctr">
                    <a:lnR w="19050">
                      <a:solidFill>
                        <a:srgbClr val="F5F4EE"/>
                      </a:solidFill>
                    </a:lnR>
                    <a:lnB w="19050">
                      <a:solidFill>
                        <a:srgbClr val="F5F4EE"/>
                      </a:solidFill>
                    </a:lnB>
                    <a:solidFill>
                      <a:srgbClr val="E7EEE7"/>
                    </a:solidFill>
                  </a:tcPr>
                </a:tc>
              </a:tr>
              <a:tr h="342900">
                <a:tc>
                  <a:txBody>
                    <a:bodyPr/>
                    <a:lstStyle/>
                    <a:p>
                      <a:r>
                        <a:rPr sz="1500" b="0">
                          <a:solidFill>
                            <a:srgbClr val="163E39"/>
                          </a:solidFill>
                          <a:latin typeface="Calibri"/>
                          <a:ea typeface="Calibri"/>
                          <a:cs typeface="Calibri"/>
                        </a:rPr>
                        <a:t>Juillet</a:t>
                      </a:r>
                    </a:p>
                  </a:txBody>
                  <a:tcPr marL="133350" marR="95250" marT="28575" marB="28575"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4 754</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5 209</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+9,6 %</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304</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280</a:t>
                      </a:r>
                    </a:p>
                  </a:txBody>
                  <a:tcPr marL="133350" marR="95250" marT="28575" marB="28575" anchor="ctr">
                    <a:lnR w="19050">
                      <a:solidFill>
                        <a:srgbClr val="F5F4EE"/>
                      </a:solidFill>
                    </a:lnR>
                    <a:lnB w="19050">
                      <a:solidFill>
                        <a:srgbClr val="F5F4EE"/>
                      </a:solidFill>
                    </a:lnB>
                    <a:solidFill>
                      <a:srgbClr val="F5F4EE"/>
                    </a:solidFill>
                  </a:tcPr>
                </a:tc>
              </a:tr>
              <a:tr h="342900">
                <a:tc>
                  <a:txBody>
                    <a:bodyPr/>
                    <a:lstStyle/>
                    <a:p>
                      <a:r>
                        <a:rPr sz="1500" b="0">
                          <a:solidFill>
                            <a:srgbClr val="163E39"/>
                          </a:solidFill>
                          <a:latin typeface="Calibri"/>
                          <a:ea typeface="Calibri"/>
                          <a:cs typeface="Calibri"/>
                        </a:rPr>
                        <a:t>Août</a:t>
                      </a:r>
                    </a:p>
                  </a:txBody>
                  <a:tcPr marL="133350" marR="95250" marT="28575" marB="28575"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4 121</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4 450</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+8,0 %</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287</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304</a:t>
                      </a:r>
                    </a:p>
                  </a:txBody>
                  <a:tcPr marL="133350" marR="95250" marT="28575" marB="28575" anchor="ctr">
                    <a:lnR w="19050">
                      <a:solidFill>
                        <a:srgbClr val="F5F4EE"/>
                      </a:solidFill>
                    </a:lnR>
                    <a:lnB w="19050">
                      <a:solidFill>
                        <a:srgbClr val="F5F4EE"/>
                      </a:solidFill>
                    </a:lnB>
                    <a:solidFill>
                      <a:srgbClr val="E7EEE7"/>
                    </a:solidFill>
                  </a:tcPr>
                </a:tc>
              </a:tr>
              <a:tr h="342900">
                <a:tc>
                  <a:txBody>
                    <a:bodyPr/>
                    <a:lstStyle/>
                    <a:p>
                      <a:r>
                        <a:rPr sz="1500" b="0">
                          <a:solidFill>
                            <a:srgbClr val="163E39"/>
                          </a:solidFill>
                          <a:latin typeface="Calibri"/>
                          <a:ea typeface="Calibri"/>
                          <a:cs typeface="Calibri"/>
                        </a:rPr>
                        <a:t>Septembre</a:t>
                      </a:r>
                    </a:p>
                  </a:txBody>
                  <a:tcPr marL="133350" marR="95250" marT="28575" marB="28575"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5 161</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4 620</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-10,5 %</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299</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258</a:t>
                      </a:r>
                    </a:p>
                  </a:txBody>
                  <a:tcPr marL="133350" marR="95250" marT="28575" marB="28575" anchor="ctr">
                    <a:lnR w="19050">
                      <a:solidFill>
                        <a:srgbClr val="F5F4EE"/>
                      </a:solidFill>
                    </a:lnR>
                    <a:lnB w="19050">
                      <a:solidFill>
                        <a:srgbClr val="F5F4EE"/>
                      </a:solidFill>
                    </a:lnB>
                    <a:solidFill>
                      <a:srgbClr val="F5F4EE"/>
                    </a:solidFill>
                  </a:tcPr>
                </a:tc>
              </a:tr>
              <a:tr h="342900">
                <a:tc>
                  <a:txBody>
                    <a:bodyPr/>
                    <a:lstStyle/>
                    <a:p>
                      <a:r>
                        <a:rPr sz="1500" b="0">
                          <a:solidFill>
                            <a:srgbClr val="163E39"/>
                          </a:solidFill>
                          <a:latin typeface="Calibri"/>
                          <a:ea typeface="Calibri"/>
                          <a:cs typeface="Calibri"/>
                        </a:rPr>
                        <a:t>Octobre</a:t>
                      </a:r>
                    </a:p>
                  </a:txBody>
                  <a:tcPr marL="133350" marR="95250" marT="28575" marB="28575"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5 389</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4 803</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-10,9 %</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311</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316</a:t>
                      </a:r>
                    </a:p>
                  </a:txBody>
                  <a:tcPr marL="133350" marR="95250" marT="28575" marB="28575" anchor="ctr">
                    <a:lnR w="19050">
                      <a:solidFill>
                        <a:srgbClr val="F5F4EE"/>
                      </a:solidFill>
                    </a:lnR>
                    <a:lnB w="19050">
                      <a:solidFill>
                        <a:srgbClr val="F5F4EE"/>
                      </a:solidFill>
                    </a:lnB>
                    <a:solidFill>
                      <a:srgbClr val="E7EEE7"/>
                    </a:solidFill>
                  </a:tcPr>
                </a:tc>
              </a:tr>
              <a:tr h="342900">
                <a:tc>
                  <a:txBody>
                    <a:bodyPr/>
                    <a:lstStyle/>
                    <a:p>
                      <a:r>
                        <a:rPr sz="1500" b="0">
                          <a:solidFill>
                            <a:srgbClr val="163E39"/>
                          </a:solidFill>
                          <a:latin typeface="Calibri"/>
                          <a:ea typeface="Calibri"/>
                          <a:cs typeface="Calibri"/>
                        </a:rPr>
                        <a:t>Novembre</a:t>
                      </a:r>
                    </a:p>
                  </a:txBody>
                  <a:tcPr marL="133350" marR="95250" marT="28575" marB="28575" anchor="ctr">
                    <a:lnL w="19050">
                      <a:solidFill>
                        <a:srgbClr val="F5F4EE"/>
                      </a:solidFill>
                    </a:lnL>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4 833</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4 477</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-7,4 %</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287</a:t>
                      </a:r>
                    </a:p>
                  </a:txBody>
                  <a:tcPr marL="133350" marR="95250" marT="28575" marB="28575" anchor="ctr">
                    <a:lnR w="19050">
                      <a:solidFill>
                        <a:srgbClr val="F5F4EE"/>
                      </a:solidFill>
                    </a:lnR>
                    <a:lnB w="19050">
                      <a:solidFill>
                        <a:srgbClr val="F5F4EE"/>
                      </a:solidFill>
                    </a:lnB>
                    <a:solidFill>
                      <a:srgbClr val="F5F4EE"/>
                    </a:solidFill>
                  </a:tcPr>
                </a:tc>
                <a:tc>
                  <a:txBody>
                    <a:bodyPr/>
                    <a:lstStyle/>
                    <a:p>
                      <a:r>
                        <a:rPr sz="1500" b="0">
                          <a:solidFill>
                            <a:srgbClr val="163E39"/>
                          </a:solidFill>
                          <a:latin typeface="Calibri"/>
                          <a:ea typeface="Calibri"/>
                          <a:cs typeface="Calibri"/>
                        </a:rPr>
                        <a:t>275</a:t>
                      </a:r>
                    </a:p>
                  </a:txBody>
                  <a:tcPr marL="133350" marR="95250" marT="28575" marB="28575" anchor="ctr">
                    <a:lnR w="19050">
                      <a:solidFill>
                        <a:srgbClr val="F5F4EE"/>
                      </a:solidFill>
                    </a:lnR>
                    <a:lnB w="19050">
                      <a:solidFill>
                        <a:srgbClr val="F5F4EE"/>
                      </a:solidFill>
                    </a:lnB>
                    <a:solidFill>
                      <a:srgbClr val="F5F4EE"/>
                    </a:solidFill>
                  </a:tcPr>
                </a:tc>
              </a:tr>
              <a:tr h="342900">
                <a:tc>
                  <a:txBody>
                    <a:bodyPr/>
                    <a:lstStyle/>
                    <a:p>
                      <a:r>
                        <a:rPr sz="1500" b="0">
                          <a:solidFill>
                            <a:srgbClr val="163E39"/>
                          </a:solidFill>
                          <a:latin typeface="Calibri"/>
                          <a:ea typeface="Calibri"/>
                          <a:cs typeface="Calibri"/>
                        </a:rPr>
                        <a:t>Décembre</a:t>
                      </a:r>
                    </a:p>
                  </a:txBody>
                  <a:tcPr marL="133350" marR="95250" marT="28575" marB="28575" anchor="ctr">
                    <a:lnL w="19050">
                      <a:solidFill>
                        <a:srgbClr val="F5F4EE"/>
                      </a:solidFill>
                    </a:lnL>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4 450</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4 374</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-1,7 %</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291</a:t>
                      </a:r>
                    </a:p>
                  </a:txBody>
                  <a:tcPr marL="133350" marR="95250" marT="28575" marB="28575" anchor="ctr">
                    <a:lnR w="19050">
                      <a:solidFill>
                        <a:srgbClr val="F5F4EE"/>
                      </a:solidFill>
                    </a:lnR>
                    <a:lnB w="19050">
                      <a:solidFill>
                        <a:srgbClr val="F5F4EE"/>
                      </a:solidFill>
                    </a:lnB>
                    <a:solidFill>
                      <a:srgbClr val="E7EEE7"/>
                    </a:solidFill>
                  </a:tcPr>
                </a:tc>
                <a:tc>
                  <a:txBody>
                    <a:bodyPr/>
                    <a:lstStyle/>
                    <a:p>
                      <a:r>
                        <a:rPr sz="1500" b="0">
                          <a:solidFill>
                            <a:srgbClr val="163E39"/>
                          </a:solidFill>
                          <a:latin typeface="Calibri"/>
                          <a:ea typeface="Calibri"/>
                          <a:cs typeface="Calibri"/>
                        </a:rPr>
                        <a:t>291</a:t>
                      </a:r>
                    </a:p>
                  </a:txBody>
                  <a:tcPr marL="133350" marR="95250" marT="28575" marB="28575" anchor="ctr">
                    <a:lnR w="19050">
                      <a:solidFill>
                        <a:srgbClr val="F5F4EE"/>
                      </a:solidFill>
                    </a:lnR>
                    <a:lnB w="19050">
                      <a:solidFill>
                        <a:srgbClr val="F5F4EE"/>
                      </a:solidFill>
                    </a:lnB>
                    <a:solidFill>
                      <a:srgbClr val="E7EEE7"/>
                    </a:solidFill>
                  </a:tcPr>
                </a:tc>
              </a:tr>
            </a:tbl>
          </a:graphicData>
        </a:graphic>
      </p:graphicFrame>
    </p:spTree>
    <p:extLst>
      <p:ext uri="{BB962C8B-B14F-4D97-AF65-F5344CB8AC3E}">
        <p14:creationId xmlns:p14="http://schemas.microsoft.com/office/powerpoint/2010/main" val="3733261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2026-10-16T10:24:21.9100000Z</dcterms:created>
  <dcterms:modified xsi:type="dcterms:W3CDTF">2026-10-16T10:24:21.9100000Z</dcterms:modified>
</coreProperties>
</file>